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Radley" charset="1" panose="00000500000000000000"/>
      <p:regular r:id="rId16"/>
    </p:embeddedFont>
    <p:embeddedFont>
      <p:font typeface="Carlito" charset="1" panose="020F0502020204030204"/>
      <p:regular r:id="rId17"/>
    </p:embeddedFont>
    <p:embeddedFont>
      <p:font typeface="Radley Italics" charset="1" panose="00000500000000000000"/>
      <p:regular r:id="rId18"/>
    </p:embeddedFont>
    <p:embeddedFont>
      <p:font typeface="Carlito Bold" charset="1" panose="020F050202020403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https://github.com/akashjana2123/IBM_salary_predictor"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4981575" y="3352800"/>
            <a:ext cx="8324850" cy="6934200"/>
            <a:chOff x="0" y="0"/>
            <a:chExt cx="1289737" cy="1074289"/>
          </a:xfrm>
        </p:grpSpPr>
        <p:sp>
          <p:nvSpPr>
            <p:cNvPr name="Freeform 3" id="3"/>
            <p:cNvSpPr/>
            <p:nvPr/>
          </p:nvSpPr>
          <p:spPr>
            <a:xfrm flipH="false" flipV="false" rot="0">
              <a:off x="0" y="0"/>
              <a:ext cx="1289737" cy="1074289"/>
            </a:xfrm>
            <a:custGeom>
              <a:avLst/>
              <a:gdLst/>
              <a:ahLst/>
              <a:cxnLst/>
              <a:rect r="r" b="b" t="t" l="l"/>
              <a:pathLst>
                <a:path h="1074289" w="1289737">
                  <a:moveTo>
                    <a:pt x="0" y="0"/>
                  </a:moveTo>
                  <a:lnTo>
                    <a:pt x="1289737" y="0"/>
                  </a:lnTo>
                  <a:lnTo>
                    <a:pt x="1289737" y="1074289"/>
                  </a:lnTo>
                  <a:lnTo>
                    <a:pt x="0" y="1074289"/>
                  </a:lnTo>
                  <a:close/>
                </a:path>
              </a:pathLst>
            </a:custGeom>
            <a:blipFill>
              <a:blip r:embed="rId2"/>
              <a:stretch>
                <a:fillRect l="-329" t="0" r="-329" b="0"/>
              </a:stretch>
            </a:blipFill>
          </p:spPr>
        </p:sp>
      </p:grpSp>
      <p:grpSp>
        <p:nvGrpSpPr>
          <p:cNvPr name="Group 4" id="4"/>
          <p:cNvGrpSpPr/>
          <p:nvPr/>
        </p:nvGrpSpPr>
        <p:grpSpPr>
          <a:xfrm rot="0">
            <a:off x="666750" y="666750"/>
            <a:ext cx="16954500" cy="2172955"/>
            <a:chOff x="0" y="0"/>
            <a:chExt cx="22606000" cy="2897274"/>
          </a:xfrm>
        </p:grpSpPr>
        <p:sp>
          <p:nvSpPr>
            <p:cNvPr name="AutoShape 5" id="5"/>
            <p:cNvSpPr/>
            <p:nvPr/>
          </p:nvSpPr>
          <p:spPr>
            <a:xfrm>
              <a:off x="0" y="2884574"/>
              <a:ext cx="22606000" cy="0"/>
            </a:xfrm>
            <a:prstGeom prst="line">
              <a:avLst/>
            </a:prstGeom>
            <a:ln cap="flat" w="25400">
              <a:solidFill>
                <a:srgbClr val="FFFFFF"/>
              </a:solidFill>
              <a:prstDash val="solid"/>
              <a:headEnd type="none" len="sm" w="sm"/>
              <a:tailEnd type="none" len="sm" w="sm"/>
            </a:ln>
          </p:spPr>
        </p:sp>
        <p:sp>
          <p:nvSpPr>
            <p:cNvPr name="TextBox 6" id="6"/>
            <p:cNvSpPr txBox="true"/>
            <p:nvPr/>
          </p:nvSpPr>
          <p:spPr>
            <a:xfrm rot="0">
              <a:off x="0" y="247650"/>
              <a:ext cx="22606000" cy="2315063"/>
            </a:xfrm>
            <a:prstGeom prst="rect">
              <a:avLst/>
            </a:prstGeom>
          </p:spPr>
          <p:txBody>
            <a:bodyPr anchor="t" rtlCol="false" tIns="0" lIns="0" bIns="0" rIns="0">
              <a:spAutoFit/>
            </a:bodyPr>
            <a:lstStyle/>
            <a:p>
              <a:pPr algn="ctr" marL="0" indent="0" lvl="0">
                <a:lnSpc>
                  <a:spcPts val="12670"/>
                </a:lnSpc>
              </a:pPr>
              <a:r>
                <a:rPr lang="en-US" sz="12670" spc="-253" u="none">
                  <a:solidFill>
                    <a:srgbClr val="FFFFFF"/>
                  </a:solidFill>
                  <a:latin typeface="Radley"/>
                  <a:ea typeface="Radley"/>
                  <a:cs typeface="Radley"/>
                  <a:sym typeface="Radley"/>
                </a:rPr>
                <a:t>Salary Prediction Project</a:t>
              </a:r>
            </a:p>
          </p:txBody>
        </p:sp>
      </p:grpSp>
      <p:sp>
        <p:nvSpPr>
          <p:cNvPr name="TextBox 7" id="7"/>
          <p:cNvSpPr txBox="true"/>
          <p:nvPr/>
        </p:nvSpPr>
        <p:spPr>
          <a:xfrm rot="0">
            <a:off x="13611225" y="9275446"/>
            <a:ext cx="4010025" cy="344804"/>
          </a:xfrm>
          <a:prstGeom prst="rect">
            <a:avLst/>
          </a:prstGeom>
        </p:spPr>
        <p:txBody>
          <a:bodyPr anchor="t" rtlCol="false" tIns="0" lIns="0" bIns="0" rIns="0">
            <a:spAutoFit/>
          </a:bodyPr>
          <a:lstStyle/>
          <a:p>
            <a:pPr algn="r" marL="0" indent="0" lvl="0">
              <a:lnSpc>
                <a:spcPts val="2520"/>
              </a:lnSpc>
              <a:spcBef>
                <a:spcPct val="0"/>
              </a:spcBef>
            </a:pPr>
            <a:r>
              <a:rPr lang="en-US" sz="1800" spc="239">
                <a:solidFill>
                  <a:srgbClr val="B3C7F9"/>
                </a:solidFill>
                <a:latin typeface="Carlito"/>
                <a:ea typeface="Carlito"/>
                <a:cs typeface="Carlito"/>
                <a:sym typeface="Carlito"/>
              </a:rPr>
              <a:t>DATA SCIENTIST</a:t>
            </a:r>
          </a:p>
        </p:txBody>
      </p:sp>
      <p:sp>
        <p:nvSpPr>
          <p:cNvPr name="TextBox 8" id="8"/>
          <p:cNvSpPr txBox="true"/>
          <p:nvPr/>
        </p:nvSpPr>
        <p:spPr>
          <a:xfrm rot="0">
            <a:off x="666750" y="9323705"/>
            <a:ext cx="4010025" cy="296545"/>
          </a:xfrm>
          <a:prstGeom prst="rect">
            <a:avLst/>
          </a:prstGeom>
        </p:spPr>
        <p:txBody>
          <a:bodyPr anchor="t" rtlCol="false" tIns="0" lIns="0" bIns="0" rIns="0">
            <a:spAutoFit/>
          </a:bodyPr>
          <a:lstStyle/>
          <a:p>
            <a:pPr algn="l" marL="0" indent="0" lvl="0">
              <a:lnSpc>
                <a:spcPts val="2299"/>
              </a:lnSpc>
            </a:pPr>
            <a:r>
              <a:rPr lang="en-US" sz="2299" i="true">
                <a:solidFill>
                  <a:srgbClr val="FFFFFF"/>
                </a:solidFill>
                <a:latin typeface="Radley Italics"/>
                <a:ea typeface="Radley Italics"/>
                <a:cs typeface="Radley Italics"/>
                <a:sym typeface="Radley Italics"/>
              </a:rPr>
              <a:t>By: Akash Jana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255" r="0" b="-255"/>
              </a:stretch>
            </a:blipFill>
          </p:spPr>
        </p:sp>
      </p:grpSp>
      <p:grpSp>
        <p:nvGrpSpPr>
          <p:cNvPr name="Group 4" id="4"/>
          <p:cNvGrpSpPr/>
          <p:nvPr/>
        </p:nvGrpSpPr>
        <p:grpSpPr>
          <a:xfrm rot="0">
            <a:off x="666750" y="666755"/>
            <a:ext cx="7230865" cy="5391150"/>
            <a:chOff x="0" y="0"/>
            <a:chExt cx="9641153" cy="7188200"/>
          </a:xfrm>
        </p:grpSpPr>
        <p:sp>
          <p:nvSpPr>
            <p:cNvPr name="TextBox 5" id="5"/>
            <p:cNvSpPr txBox="true"/>
            <p:nvPr/>
          </p:nvSpPr>
          <p:spPr>
            <a:xfrm rot="0">
              <a:off x="26326" y="57150"/>
              <a:ext cx="9614826" cy="1358479"/>
            </a:xfrm>
            <a:prstGeom prst="rect">
              <a:avLst/>
            </a:prstGeom>
          </p:spPr>
          <p:txBody>
            <a:bodyPr anchor="t" rtlCol="false" tIns="0" lIns="0" bIns="0" rIns="0">
              <a:spAutoFit/>
            </a:bodyPr>
            <a:lstStyle/>
            <a:p>
              <a:pPr algn="l" marL="0" indent="0" lvl="0">
                <a:lnSpc>
                  <a:spcPts val="7840"/>
                </a:lnSpc>
                <a:spcBef>
                  <a:spcPct val="0"/>
                </a:spcBef>
              </a:pPr>
              <a:r>
                <a:rPr lang="en-US" sz="7000" i="true">
                  <a:solidFill>
                    <a:srgbClr val="2564D9"/>
                  </a:solidFill>
                  <a:latin typeface="Radley Italics"/>
                  <a:ea typeface="Radley Italics"/>
                  <a:cs typeface="Radley Italics"/>
                  <a:sym typeface="Radley Italics"/>
                </a:rPr>
                <a:t>Project Overview</a:t>
              </a:r>
            </a:p>
          </p:txBody>
        </p:sp>
        <p:sp>
          <p:nvSpPr>
            <p:cNvPr name="TextBox 6" id="6"/>
            <p:cNvSpPr txBox="true"/>
            <p:nvPr/>
          </p:nvSpPr>
          <p:spPr>
            <a:xfrm rot="0">
              <a:off x="26326" y="2387600"/>
              <a:ext cx="9614826" cy="2095500"/>
            </a:xfrm>
            <a:prstGeom prst="rect">
              <a:avLst/>
            </a:prstGeom>
          </p:spPr>
          <p:txBody>
            <a:bodyPr anchor="t" rtlCol="false" tIns="0" lIns="0" bIns="0" rIns="0">
              <a:spAutoFit/>
            </a:bodyPr>
            <a:lstStyle/>
            <a:p>
              <a:pPr algn="l" marL="0" indent="0" lvl="0">
                <a:lnSpc>
                  <a:spcPts val="4199"/>
                </a:lnSpc>
                <a:spcBef>
                  <a:spcPct val="0"/>
                </a:spcBef>
              </a:pPr>
              <a:r>
                <a:rPr lang="en-US" sz="3499" u="none">
                  <a:solidFill>
                    <a:srgbClr val="0B3D91"/>
                  </a:solidFill>
                  <a:latin typeface="Radley"/>
                  <a:ea typeface="Radley"/>
                  <a:cs typeface="Radley"/>
                  <a:sym typeface="Radley"/>
                </a:rPr>
                <a:t>Analyzing and predicting salaries through a comprehensive ML pipeline approach.</a:t>
              </a:r>
            </a:p>
          </p:txBody>
        </p:sp>
        <p:sp>
          <p:nvSpPr>
            <p:cNvPr name="AutoShape 7" id="7"/>
            <p:cNvSpPr/>
            <p:nvPr/>
          </p:nvSpPr>
          <p:spPr>
            <a:xfrm>
              <a:off x="0" y="1901614"/>
              <a:ext cx="9614826" cy="0"/>
            </a:xfrm>
            <a:prstGeom prst="line">
              <a:avLst/>
            </a:prstGeom>
            <a:ln cap="flat" w="25400">
              <a:solidFill>
                <a:srgbClr val="0B3D91"/>
              </a:solidFill>
              <a:prstDash val="solid"/>
              <a:headEnd type="none" len="sm" w="sm"/>
              <a:tailEnd type="none" len="sm" w="sm"/>
            </a:ln>
          </p:spPr>
        </p:sp>
        <p:sp>
          <p:nvSpPr>
            <p:cNvPr name="TextBox 8" id="8"/>
            <p:cNvSpPr txBox="true"/>
            <p:nvPr/>
          </p:nvSpPr>
          <p:spPr>
            <a:xfrm rot="0">
              <a:off x="26326" y="5118100"/>
              <a:ext cx="9588500" cy="2070100"/>
            </a:xfrm>
            <a:prstGeom prst="rect">
              <a:avLst/>
            </a:prstGeom>
          </p:spPr>
          <p:txBody>
            <a:bodyPr anchor="t" rtlCol="false" tIns="0" lIns="0" bIns="0" rIns="0">
              <a:spAutoFit/>
            </a:bodyPr>
            <a:lstStyle/>
            <a:p>
              <a:pPr algn="l" marL="0" indent="0" lvl="0">
                <a:lnSpc>
                  <a:spcPts val="2400"/>
                </a:lnSpc>
              </a:pPr>
              <a:r>
                <a:rPr lang="en-US" sz="2000">
                  <a:solidFill>
                    <a:srgbClr val="0B3D91"/>
                  </a:solidFill>
                  <a:latin typeface="Carlito"/>
                  <a:ea typeface="Carlito"/>
                  <a:cs typeface="Carlito"/>
                  <a:sym typeface="Carlito"/>
                </a:rPr>
                <a:t>This presentation delves into the intricate process of predicting average salaries using machine learning. We will explore the various stages of the ML pipeline, including exploratory data analysis, data cleaning, feature engineering, model building, and finally, evaluation of the model's performance to extract meaningful insights.</a:t>
              </a:r>
            </a:p>
          </p:txBody>
        </p:sp>
      </p:grpSp>
      <p:grpSp>
        <p:nvGrpSpPr>
          <p:cNvPr name="Group 9" id="9"/>
          <p:cNvGrpSpPr/>
          <p:nvPr/>
        </p:nvGrpSpPr>
        <p:grpSpPr>
          <a:xfrm rot="0">
            <a:off x="666750" y="9184102"/>
            <a:ext cx="2171730" cy="2205796"/>
            <a:chOff x="0" y="0"/>
            <a:chExt cx="812800" cy="825500"/>
          </a:xfrm>
        </p:grpSpPr>
        <p:sp>
          <p:nvSpPr>
            <p:cNvPr name="Freeform 10" id="10"/>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0B3D91"/>
            </a:solidFill>
          </p:spPr>
        </p:sp>
        <p:sp>
          <p:nvSpPr>
            <p:cNvPr name="TextBox 11" id="11"/>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3543300" y="1562127"/>
            <a:ext cx="11201400" cy="2066938"/>
            <a:chOff x="0" y="0"/>
            <a:chExt cx="14935200" cy="2755917"/>
          </a:xfrm>
        </p:grpSpPr>
        <p:sp>
          <p:nvSpPr>
            <p:cNvPr name="AutoShape 3" id="3"/>
            <p:cNvSpPr/>
            <p:nvPr/>
          </p:nvSpPr>
          <p:spPr>
            <a:xfrm flipH="true">
              <a:off x="4892198" y="1651034"/>
              <a:ext cx="5150805" cy="0"/>
            </a:xfrm>
            <a:prstGeom prst="line">
              <a:avLst/>
            </a:prstGeom>
            <a:ln cap="flat" w="25400">
              <a:solidFill>
                <a:srgbClr val="FFFFFF"/>
              </a:solidFill>
              <a:prstDash val="solid"/>
              <a:headEnd type="none" len="sm" w="sm"/>
              <a:tailEnd type="none" len="sm" w="sm"/>
            </a:ln>
          </p:spPr>
        </p:sp>
        <p:sp>
          <p:nvSpPr>
            <p:cNvPr name="TextBox 4" id="4"/>
            <p:cNvSpPr txBox="true"/>
            <p:nvPr/>
          </p:nvSpPr>
          <p:spPr>
            <a:xfrm rot="0">
              <a:off x="0" y="57150"/>
              <a:ext cx="14935200" cy="1162050"/>
            </a:xfrm>
            <a:prstGeom prst="rect">
              <a:avLst/>
            </a:prstGeom>
          </p:spPr>
          <p:txBody>
            <a:bodyPr anchor="t" rtlCol="false" tIns="0" lIns="0" bIns="0" rIns="0">
              <a:spAutoFit/>
            </a:bodyPr>
            <a:lstStyle/>
            <a:p>
              <a:pPr algn="ctr" marL="0" indent="0" lvl="0">
                <a:lnSpc>
                  <a:spcPts val="6600"/>
                </a:lnSpc>
              </a:pPr>
              <a:r>
                <a:rPr lang="en-US" sz="6000">
                  <a:solidFill>
                    <a:srgbClr val="FFFFFF"/>
                  </a:solidFill>
                  <a:latin typeface="Radley"/>
                  <a:ea typeface="Radley"/>
                  <a:cs typeface="Radley"/>
                  <a:sym typeface="Radley"/>
                </a:rPr>
                <a:t>25,000 Average Salary</a:t>
              </a:r>
            </a:p>
          </p:txBody>
        </p:sp>
        <p:sp>
          <p:nvSpPr>
            <p:cNvPr name="TextBox 5" id="5"/>
            <p:cNvSpPr txBox="true"/>
            <p:nvPr/>
          </p:nvSpPr>
          <p:spPr>
            <a:xfrm rot="0">
              <a:off x="0" y="2035192"/>
              <a:ext cx="14935200" cy="720725"/>
            </a:xfrm>
            <a:prstGeom prst="rect">
              <a:avLst/>
            </a:prstGeom>
          </p:spPr>
          <p:txBody>
            <a:bodyPr anchor="t" rtlCol="false" tIns="0" lIns="0" bIns="0" rIns="0">
              <a:spAutoFit/>
            </a:bodyPr>
            <a:lstStyle/>
            <a:p>
              <a:pPr algn="ctr" marL="0" indent="0" lvl="0">
                <a:lnSpc>
                  <a:spcPts val="4200"/>
                </a:lnSpc>
                <a:spcBef>
                  <a:spcPct val="0"/>
                </a:spcBef>
              </a:pPr>
              <a:r>
                <a:rPr lang="en-US" sz="3500" strike="noStrike" u="none">
                  <a:solidFill>
                    <a:srgbClr val="FFFFFF"/>
                  </a:solidFill>
                  <a:latin typeface="Radley"/>
                  <a:ea typeface="Radley"/>
                  <a:cs typeface="Radley"/>
                  <a:sym typeface="Radley"/>
                </a:rPr>
                <a:t>Annual salary data analyzed</a:t>
              </a:r>
            </a:p>
          </p:txBody>
        </p:sp>
      </p:grpSp>
      <p:grpSp>
        <p:nvGrpSpPr>
          <p:cNvPr name="Group 6" id="6"/>
          <p:cNvGrpSpPr/>
          <p:nvPr/>
        </p:nvGrpSpPr>
        <p:grpSpPr>
          <a:xfrm rot="0">
            <a:off x="3543300" y="4248238"/>
            <a:ext cx="11201400" cy="2066938"/>
            <a:chOff x="0" y="0"/>
            <a:chExt cx="14935200" cy="2755917"/>
          </a:xfrm>
        </p:grpSpPr>
        <p:sp>
          <p:nvSpPr>
            <p:cNvPr name="AutoShape 7" id="7"/>
            <p:cNvSpPr/>
            <p:nvPr/>
          </p:nvSpPr>
          <p:spPr>
            <a:xfrm flipH="true">
              <a:off x="4892198" y="1651034"/>
              <a:ext cx="5150805" cy="0"/>
            </a:xfrm>
            <a:prstGeom prst="line">
              <a:avLst/>
            </a:prstGeom>
            <a:ln cap="flat" w="25400">
              <a:solidFill>
                <a:srgbClr val="FFFFFF"/>
              </a:solidFill>
              <a:prstDash val="solid"/>
              <a:headEnd type="none" len="sm" w="sm"/>
              <a:tailEnd type="none" len="sm" w="sm"/>
            </a:ln>
          </p:spPr>
        </p:sp>
        <p:sp>
          <p:nvSpPr>
            <p:cNvPr name="TextBox 8" id="8"/>
            <p:cNvSpPr txBox="true"/>
            <p:nvPr/>
          </p:nvSpPr>
          <p:spPr>
            <a:xfrm rot="0">
              <a:off x="0" y="57150"/>
              <a:ext cx="14935200" cy="1162050"/>
            </a:xfrm>
            <a:prstGeom prst="rect">
              <a:avLst/>
            </a:prstGeom>
          </p:spPr>
          <p:txBody>
            <a:bodyPr anchor="t" rtlCol="false" tIns="0" lIns="0" bIns="0" rIns="0">
              <a:spAutoFit/>
            </a:bodyPr>
            <a:lstStyle/>
            <a:p>
              <a:pPr algn="ctr" marL="0" indent="0" lvl="0">
                <a:lnSpc>
                  <a:spcPts val="6600"/>
                </a:lnSpc>
                <a:spcBef>
                  <a:spcPct val="0"/>
                </a:spcBef>
              </a:pPr>
              <a:r>
                <a:rPr lang="en-US" sz="6000" strike="noStrike" u="none">
                  <a:solidFill>
                    <a:srgbClr val="FFFFFF"/>
                  </a:solidFill>
                  <a:latin typeface="Radley"/>
                  <a:ea typeface="Radley"/>
                  <a:cs typeface="Radley"/>
                  <a:sym typeface="Radley"/>
                </a:rPr>
                <a:t>12 Columns</a:t>
              </a:r>
            </a:p>
          </p:txBody>
        </p:sp>
        <p:sp>
          <p:nvSpPr>
            <p:cNvPr name="TextBox 9" id="9"/>
            <p:cNvSpPr txBox="true"/>
            <p:nvPr/>
          </p:nvSpPr>
          <p:spPr>
            <a:xfrm rot="0">
              <a:off x="0" y="2035192"/>
              <a:ext cx="14935200" cy="720725"/>
            </a:xfrm>
            <a:prstGeom prst="rect">
              <a:avLst/>
            </a:prstGeom>
          </p:spPr>
          <p:txBody>
            <a:bodyPr anchor="t" rtlCol="false" tIns="0" lIns="0" bIns="0" rIns="0">
              <a:spAutoFit/>
            </a:bodyPr>
            <a:lstStyle/>
            <a:p>
              <a:pPr algn="ctr" marL="0" indent="0" lvl="0">
                <a:lnSpc>
                  <a:spcPts val="4200"/>
                </a:lnSpc>
                <a:spcBef>
                  <a:spcPct val="0"/>
                </a:spcBef>
              </a:pPr>
              <a:r>
                <a:rPr lang="en-US" sz="3500" strike="noStrike" u="none">
                  <a:solidFill>
                    <a:srgbClr val="FFFFFF"/>
                  </a:solidFill>
                  <a:latin typeface="Radley"/>
                  <a:ea typeface="Radley"/>
                  <a:cs typeface="Radley"/>
                  <a:sym typeface="Radley"/>
                </a:rPr>
                <a:t>Key features in dataset</a:t>
              </a:r>
            </a:p>
          </p:txBody>
        </p:sp>
      </p:grpSp>
      <p:grpSp>
        <p:nvGrpSpPr>
          <p:cNvPr name="Group 10" id="10"/>
          <p:cNvGrpSpPr/>
          <p:nvPr/>
        </p:nvGrpSpPr>
        <p:grpSpPr>
          <a:xfrm rot="0">
            <a:off x="3543300" y="6934288"/>
            <a:ext cx="11201400" cy="2066938"/>
            <a:chOff x="0" y="0"/>
            <a:chExt cx="14935200" cy="2755917"/>
          </a:xfrm>
        </p:grpSpPr>
        <p:sp>
          <p:nvSpPr>
            <p:cNvPr name="AutoShape 11" id="11"/>
            <p:cNvSpPr/>
            <p:nvPr/>
          </p:nvSpPr>
          <p:spPr>
            <a:xfrm flipH="true">
              <a:off x="4892198" y="1651034"/>
              <a:ext cx="5150805" cy="0"/>
            </a:xfrm>
            <a:prstGeom prst="line">
              <a:avLst/>
            </a:prstGeom>
            <a:ln cap="flat" w="25400">
              <a:solidFill>
                <a:srgbClr val="FFFFFF"/>
              </a:solidFill>
              <a:prstDash val="solid"/>
              <a:headEnd type="none" len="sm" w="sm"/>
              <a:tailEnd type="none" len="sm" w="sm"/>
            </a:ln>
          </p:spPr>
        </p:sp>
        <p:sp>
          <p:nvSpPr>
            <p:cNvPr name="TextBox 12" id="12"/>
            <p:cNvSpPr txBox="true"/>
            <p:nvPr/>
          </p:nvSpPr>
          <p:spPr>
            <a:xfrm rot="0">
              <a:off x="0" y="57150"/>
              <a:ext cx="14935200" cy="1162050"/>
            </a:xfrm>
            <a:prstGeom prst="rect">
              <a:avLst/>
            </a:prstGeom>
          </p:spPr>
          <p:txBody>
            <a:bodyPr anchor="t" rtlCol="false" tIns="0" lIns="0" bIns="0" rIns="0">
              <a:spAutoFit/>
            </a:bodyPr>
            <a:lstStyle/>
            <a:p>
              <a:pPr algn="ctr" marL="0" indent="0" lvl="0">
                <a:lnSpc>
                  <a:spcPts val="6600"/>
                </a:lnSpc>
                <a:spcBef>
                  <a:spcPct val="0"/>
                </a:spcBef>
              </a:pPr>
              <a:r>
                <a:rPr lang="en-US" sz="6000" strike="noStrike" u="none">
                  <a:solidFill>
                    <a:srgbClr val="FFFFFF"/>
                  </a:solidFill>
                  <a:latin typeface="Radley"/>
                  <a:ea typeface="Radley"/>
                  <a:cs typeface="Radley"/>
                  <a:sym typeface="Radley"/>
                </a:rPr>
                <a:t>8% Missing Values</a:t>
              </a:r>
            </a:p>
          </p:txBody>
        </p:sp>
        <p:sp>
          <p:nvSpPr>
            <p:cNvPr name="TextBox 13" id="13"/>
            <p:cNvSpPr txBox="true"/>
            <p:nvPr/>
          </p:nvSpPr>
          <p:spPr>
            <a:xfrm rot="0">
              <a:off x="0" y="2035192"/>
              <a:ext cx="14935200" cy="720725"/>
            </a:xfrm>
            <a:prstGeom prst="rect">
              <a:avLst/>
            </a:prstGeom>
          </p:spPr>
          <p:txBody>
            <a:bodyPr anchor="t" rtlCol="false" tIns="0" lIns="0" bIns="0" rIns="0">
              <a:spAutoFit/>
            </a:bodyPr>
            <a:lstStyle/>
            <a:p>
              <a:pPr algn="ctr" marL="0" indent="0" lvl="0">
                <a:lnSpc>
                  <a:spcPts val="4200"/>
                </a:lnSpc>
                <a:spcBef>
                  <a:spcPct val="0"/>
                </a:spcBef>
              </a:pPr>
              <a:r>
                <a:rPr lang="en-US" sz="3500" strike="noStrike" u="none">
                  <a:solidFill>
                    <a:srgbClr val="FFFFFF"/>
                  </a:solidFill>
                  <a:latin typeface="Radley"/>
                  <a:ea typeface="Radley"/>
                  <a:cs typeface="Radley"/>
                  <a:sym typeface="Radley"/>
                </a:rPr>
                <a:t>Data needs cleaning</a:t>
              </a:r>
            </a:p>
          </p:txBody>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66750" y="5143500"/>
            <a:ext cx="4314825" cy="2817495"/>
            <a:chOff x="0" y="0"/>
            <a:chExt cx="5753100" cy="3756660"/>
          </a:xfrm>
        </p:grpSpPr>
        <p:sp>
          <p:nvSpPr>
            <p:cNvPr name="TextBox 3" id="3"/>
            <p:cNvSpPr txBox="true"/>
            <p:nvPr/>
          </p:nvSpPr>
          <p:spPr>
            <a:xfrm rot="0">
              <a:off x="0" y="-47625"/>
              <a:ext cx="5753100" cy="606425"/>
            </a:xfrm>
            <a:prstGeom prst="rect">
              <a:avLst/>
            </a:prstGeom>
          </p:spPr>
          <p:txBody>
            <a:bodyPr anchor="t" rtlCol="false" tIns="0" lIns="0" bIns="0" rIns="0">
              <a:spAutoFit/>
            </a:bodyPr>
            <a:lstStyle/>
            <a:p>
              <a:pPr algn="l" marL="0" indent="0" lvl="0">
                <a:lnSpc>
                  <a:spcPts val="3360"/>
                </a:lnSpc>
                <a:spcBef>
                  <a:spcPct val="0"/>
                </a:spcBef>
              </a:pPr>
              <a:r>
                <a:rPr lang="en-US" b="true" sz="2800" strike="noStrike" u="none">
                  <a:solidFill>
                    <a:srgbClr val="0B3D91"/>
                  </a:solidFill>
                  <a:latin typeface="Carlito Bold"/>
                  <a:ea typeface="Carlito Bold"/>
                  <a:cs typeface="Carlito Bold"/>
                  <a:sym typeface="Carlito Bold"/>
                </a:rPr>
                <a:t>Missing Values</a:t>
              </a:r>
            </a:p>
          </p:txBody>
        </p:sp>
        <p:sp>
          <p:nvSpPr>
            <p:cNvPr name="TextBox 4" id="4"/>
            <p:cNvSpPr txBox="true"/>
            <p:nvPr/>
          </p:nvSpPr>
          <p:spPr>
            <a:xfrm rot="0">
              <a:off x="0" y="1127125"/>
              <a:ext cx="5753100" cy="2629535"/>
            </a:xfrm>
            <a:prstGeom prst="rect">
              <a:avLst/>
            </a:prstGeom>
          </p:spPr>
          <p:txBody>
            <a:bodyPr anchor="t" rtlCol="false" tIns="0" lIns="0" bIns="0" rIns="0">
              <a:spAutoFit/>
            </a:bodyPr>
            <a:lstStyle/>
            <a:p>
              <a:pPr algn="l" marL="0" indent="0" lvl="0">
                <a:lnSpc>
                  <a:spcPts val="3120"/>
                </a:lnSpc>
                <a:spcBef>
                  <a:spcPct val="0"/>
                </a:spcBef>
              </a:pPr>
              <a:r>
                <a:rPr lang="en-US" sz="2400" strike="noStrike" u="none">
                  <a:solidFill>
                    <a:srgbClr val="0B3D91"/>
                  </a:solidFill>
                  <a:latin typeface="Carlito"/>
                  <a:ea typeface="Carlito"/>
                  <a:cs typeface="Carlito"/>
                  <a:sym typeface="Carlito"/>
                </a:rPr>
                <a:t>We identified and handled missing values by employing imputation techniques, ensuring that the integrity of our dataset remained intact while minimizing data loss.</a:t>
              </a:r>
            </a:p>
          </p:txBody>
        </p:sp>
      </p:grpSp>
      <p:grpSp>
        <p:nvGrpSpPr>
          <p:cNvPr name="Group 5" id="5"/>
          <p:cNvGrpSpPr/>
          <p:nvPr/>
        </p:nvGrpSpPr>
        <p:grpSpPr>
          <a:xfrm rot="0">
            <a:off x="5853113" y="5143500"/>
            <a:ext cx="4314825" cy="2817495"/>
            <a:chOff x="0" y="0"/>
            <a:chExt cx="5753100" cy="3756660"/>
          </a:xfrm>
        </p:grpSpPr>
        <p:sp>
          <p:nvSpPr>
            <p:cNvPr name="TextBox 6" id="6"/>
            <p:cNvSpPr txBox="true"/>
            <p:nvPr/>
          </p:nvSpPr>
          <p:spPr>
            <a:xfrm rot="0">
              <a:off x="0" y="-47625"/>
              <a:ext cx="5753100" cy="606425"/>
            </a:xfrm>
            <a:prstGeom prst="rect">
              <a:avLst/>
            </a:prstGeom>
          </p:spPr>
          <p:txBody>
            <a:bodyPr anchor="t" rtlCol="false" tIns="0" lIns="0" bIns="0" rIns="0">
              <a:spAutoFit/>
            </a:bodyPr>
            <a:lstStyle/>
            <a:p>
              <a:pPr algn="l" marL="0" indent="0" lvl="0">
                <a:lnSpc>
                  <a:spcPts val="3360"/>
                </a:lnSpc>
                <a:spcBef>
                  <a:spcPct val="0"/>
                </a:spcBef>
              </a:pPr>
              <a:r>
                <a:rPr lang="en-US" b="true" sz="2800" strike="noStrike" u="none">
                  <a:solidFill>
                    <a:srgbClr val="0B3D91"/>
                  </a:solidFill>
                  <a:latin typeface="Carlito Bold"/>
                  <a:ea typeface="Carlito Bold"/>
                  <a:cs typeface="Carlito Bold"/>
                  <a:sym typeface="Carlito Bold"/>
                </a:rPr>
                <a:t>Duplicates</a:t>
              </a:r>
            </a:p>
          </p:txBody>
        </p:sp>
        <p:sp>
          <p:nvSpPr>
            <p:cNvPr name="TextBox 7" id="7"/>
            <p:cNvSpPr txBox="true"/>
            <p:nvPr/>
          </p:nvSpPr>
          <p:spPr>
            <a:xfrm rot="0">
              <a:off x="0" y="1127125"/>
              <a:ext cx="5753100" cy="2629535"/>
            </a:xfrm>
            <a:prstGeom prst="rect">
              <a:avLst/>
            </a:prstGeom>
          </p:spPr>
          <p:txBody>
            <a:bodyPr anchor="t" rtlCol="false" tIns="0" lIns="0" bIns="0" rIns="0">
              <a:spAutoFit/>
            </a:bodyPr>
            <a:lstStyle/>
            <a:p>
              <a:pPr algn="l" marL="0" indent="0" lvl="0">
                <a:lnSpc>
                  <a:spcPts val="3120"/>
                </a:lnSpc>
                <a:spcBef>
                  <a:spcPct val="0"/>
                </a:spcBef>
              </a:pPr>
              <a:r>
                <a:rPr lang="en-US" sz="2400" strike="noStrike" u="none">
                  <a:solidFill>
                    <a:srgbClr val="0B3D91"/>
                  </a:solidFill>
                  <a:latin typeface="Carlito"/>
                  <a:ea typeface="Carlito"/>
                  <a:cs typeface="Carlito"/>
                  <a:sym typeface="Carlito"/>
                </a:rPr>
                <a:t>Duplicate entries were detected and removed to maintain accurate data representation, thereby preventing bias in our analysis and ensuring valid model training.</a:t>
              </a:r>
            </a:p>
          </p:txBody>
        </p:sp>
      </p:grpSp>
      <p:grpSp>
        <p:nvGrpSpPr>
          <p:cNvPr name="Group 8" id="8"/>
          <p:cNvGrpSpPr/>
          <p:nvPr/>
        </p:nvGrpSpPr>
        <p:grpSpPr>
          <a:xfrm rot="0">
            <a:off x="11044238" y="5143500"/>
            <a:ext cx="4314825" cy="3208020"/>
            <a:chOff x="0" y="0"/>
            <a:chExt cx="5753100" cy="4277360"/>
          </a:xfrm>
        </p:grpSpPr>
        <p:sp>
          <p:nvSpPr>
            <p:cNvPr name="TextBox 9" id="9"/>
            <p:cNvSpPr txBox="true"/>
            <p:nvPr/>
          </p:nvSpPr>
          <p:spPr>
            <a:xfrm rot="0">
              <a:off x="0" y="-47625"/>
              <a:ext cx="5753100" cy="606425"/>
            </a:xfrm>
            <a:prstGeom prst="rect">
              <a:avLst/>
            </a:prstGeom>
          </p:spPr>
          <p:txBody>
            <a:bodyPr anchor="t" rtlCol="false" tIns="0" lIns="0" bIns="0" rIns="0">
              <a:spAutoFit/>
            </a:bodyPr>
            <a:lstStyle/>
            <a:p>
              <a:pPr algn="l" marL="0" indent="0" lvl="0">
                <a:lnSpc>
                  <a:spcPts val="3360"/>
                </a:lnSpc>
                <a:spcBef>
                  <a:spcPct val="0"/>
                </a:spcBef>
              </a:pPr>
              <a:r>
                <a:rPr lang="en-US" b="true" sz="2800" strike="noStrike" u="none">
                  <a:solidFill>
                    <a:srgbClr val="0B3D91"/>
                  </a:solidFill>
                  <a:latin typeface="Carlito Bold"/>
                  <a:ea typeface="Carlito Bold"/>
                  <a:cs typeface="Carlito Bold"/>
                  <a:sym typeface="Carlito Bold"/>
                </a:rPr>
                <a:t>Outliers</a:t>
              </a:r>
            </a:p>
          </p:txBody>
        </p:sp>
        <p:sp>
          <p:nvSpPr>
            <p:cNvPr name="TextBox 10" id="10"/>
            <p:cNvSpPr txBox="true"/>
            <p:nvPr/>
          </p:nvSpPr>
          <p:spPr>
            <a:xfrm rot="0">
              <a:off x="0" y="1127125"/>
              <a:ext cx="5753100" cy="3150235"/>
            </a:xfrm>
            <a:prstGeom prst="rect">
              <a:avLst/>
            </a:prstGeom>
          </p:spPr>
          <p:txBody>
            <a:bodyPr anchor="t" rtlCol="false" tIns="0" lIns="0" bIns="0" rIns="0">
              <a:spAutoFit/>
            </a:bodyPr>
            <a:lstStyle/>
            <a:p>
              <a:pPr algn="l" marL="0" indent="0" lvl="0">
                <a:lnSpc>
                  <a:spcPts val="3120"/>
                </a:lnSpc>
                <a:spcBef>
                  <a:spcPct val="0"/>
                </a:spcBef>
              </a:pPr>
              <a:r>
                <a:rPr lang="en-US" sz="2400" strike="noStrike" u="none">
                  <a:solidFill>
                    <a:srgbClr val="0B3D91"/>
                  </a:solidFill>
                  <a:latin typeface="Carlito"/>
                  <a:ea typeface="Carlito"/>
                  <a:cs typeface="Carlito"/>
                  <a:sym typeface="Carlito"/>
                </a:rPr>
                <a:t>Outliers were assessed and treated using statistical methods, ensuring they did not skew our results and that the model could perform optimally across all data points.</a:t>
              </a:r>
            </a:p>
          </p:txBody>
        </p:sp>
      </p:grpSp>
      <p:grpSp>
        <p:nvGrpSpPr>
          <p:cNvPr name="Group 11" id="11"/>
          <p:cNvGrpSpPr/>
          <p:nvPr/>
        </p:nvGrpSpPr>
        <p:grpSpPr>
          <a:xfrm rot="0">
            <a:off x="666750" y="666750"/>
            <a:ext cx="12944475" cy="1795780"/>
            <a:chOff x="0" y="0"/>
            <a:chExt cx="17259300" cy="2394374"/>
          </a:xfrm>
        </p:grpSpPr>
        <p:sp>
          <p:nvSpPr>
            <p:cNvPr name="TextBox 12" id="12"/>
            <p:cNvSpPr txBox="true"/>
            <p:nvPr/>
          </p:nvSpPr>
          <p:spPr>
            <a:xfrm rot="0">
              <a:off x="0" y="142875"/>
              <a:ext cx="17259300" cy="1275292"/>
            </a:xfrm>
            <a:prstGeom prst="rect">
              <a:avLst/>
            </a:prstGeom>
          </p:spPr>
          <p:txBody>
            <a:bodyPr anchor="t" rtlCol="false" tIns="0" lIns="0" bIns="0" rIns="0">
              <a:spAutoFit/>
            </a:bodyPr>
            <a:lstStyle/>
            <a:p>
              <a:pPr algn="l" marL="0" indent="0" lvl="0">
                <a:lnSpc>
                  <a:spcPts val="6999"/>
                </a:lnSpc>
              </a:pPr>
              <a:r>
                <a:rPr lang="en-US" sz="6999">
                  <a:solidFill>
                    <a:srgbClr val="2564D9"/>
                  </a:solidFill>
                  <a:latin typeface="Radley"/>
                  <a:ea typeface="Radley"/>
                  <a:cs typeface="Radley"/>
                  <a:sym typeface="Radley"/>
                </a:rPr>
                <a:t>Data Cleaning</a:t>
              </a:r>
            </a:p>
          </p:txBody>
        </p:sp>
        <p:sp>
          <p:nvSpPr>
            <p:cNvPr name="TextBox 13" id="13"/>
            <p:cNvSpPr txBox="true"/>
            <p:nvPr/>
          </p:nvSpPr>
          <p:spPr>
            <a:xfrm rot="0">
              <a:off x="0" y="1771650"/>
              <a:ext cx="17259300" cy="622724"/>
            </a:xfrm>
            <a:prstGeom prst="rect">
              <a:avLst/>
            </a:prstGeom>
          </p:spPr>
          <p:txBody>
            <a:bodyPr anchor="t" rtlCol="false" tIns="0" lIns="0" bIns="0" rIns="0">
              <a:spAutoFit/>
            </a:bodyPr>
            <a:lstStyle/>
            <a:p>
              <a:pPr algn="l" marL="0" indent="0" lvl="0">
                <a:lnSpc>
                  <a:spcPts val="3919"/>
                </a:lnSpc>
                <a:spcBef>
                  <a:spcPct val="0"/>
                </a:spcBef>
              </a:pPr>
              <a:r>
                <a:rPr lang="en-US" sz="2799" strike="noStrike" u="none">
                  <a:solidFill>
                    <a:srgbClr val="0B3D91"/>
                  </a:solidFill>
                  <a:latin typeface="Radley"/>
                  <a:ea typeface="Radley"/>
                  <a:cs typeface="Radley"/>
                  <a:sym typeface="Radley"/>
                </a:rPr>
                <a:t>Addressing issues in the dataset</a:t>
              </a:r>
            </a:p>
          </p:txBody>
        </p:sp>
      </p:grpSp>
      <p:grpSp>
        <p:nvGrpSpPr>
          <p:cNvPr name="Group 14" id="14"/>
          <p:cNvGrpSpPr/>
          <p:nvPr/>
        </p:nvGrpSpPr>
        <p:grpSpPr>
          <a:xfrm rot="0">
            <a:off x="17202135" y="459202"/>
            <a:ext cx="2171730" cy="2205796"/>
            <a:chOff x="0" y="0"/>
            <a:chExt cx="812800" cy="825500"/>
          </a:xfrm>
        </p:grpSpPr>
        <p:sp>
          <p:nvSpPr>
            <p:cNvPr name="Freeform 15" id="15"/>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0B3D91"/>
            </a:solidFill>
          </p:spPr>
        </p:sp>
        <p:sp>
          <p:nvSpPr>
            <p:cNvPr name="TextBox 16" id="16"/>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4314825" cy="3208020"/>
            <a:chOff x="0" y="0"/>
            <a:chExt cx="5753100" cy="4277360"/>
          </a:xfrm>
        </p:grpSpPr>
        <p:sp>
          <p:nvSpPr>
            <p:cNvPr name="TextBox 3" id="3"/>
            <p:cNvSpPr txBox="true"/>
            <p:nvPr/>
          </p:nvSpPr>
          <p:spPr>
            <a:xfrm rot="0">
              <a:off x="0" y="-47625"/>
              <a:ext cx="5753100" cy="606425"/>
            </a:xfrm>
            <a:prstGeom prst="rect">
              <a:avLst/>
            </a:prstGeom>
          </p:spPr>
          <p:txBody>
            <a:bodyPr anchor="t" rtlCol="false" tIns="0" lIns="0" bIns="0" rIns="0">
              <a:spAutoFit/>
            </a:bodyPr>
            <a:lstStyle/>
            <a:p>
              <a:pPr algn="l" marL="0" indent="0" lvl="0">
                <a:lnSpc>
                  <a:spcPts val="3360"/>
                </a:lnSpc>
                <a:spcBef>
                  <a:spcPct val="0"/>
                </a:spcBef>
              </a:pPr>
              <a:r>
                <a:rPr lang="en-US" b="true" sz="2800" strike="noStrike" u="none">
                  <a:solidFill>
                    <a:srgbClr val="FFFFFF"/>
                  </a:solidFill>
                  <a:latin typeface="Carlito Bold"/>
                  <a:ea typeface="Carlito Bold"/>
                  <a:cs typeface="Carlito Bold"/>
                  <a:sym typeface="Carlito Bold"/>
                </a:rPr>
                <a:t>Encoding Techniques</a:t>
              </a:r>
            </a:p>
          </p:txBody>
        </p:sp>
        <p:sp>
          <p:nvSpPr>
            <p:cNvPr name="TextBox 4" id="4"/>
            <p:cNvSpPr txBox="true"/>
            <p:nvPr/>
          </p:nvSpPr>
          <p:spPr>
            <a:xfrm rot="0">
              <a:off x="0" y="1127125"/>
              <a:ext cx="5753100" cy="3150235"/>
            </a:xfrm>
            <a:prstGeom prst="rect">
              <a:avLst/>
            </a:prstGeom>
          </p:spPr>
          <p:txBody>
            <a:bodyPr anchor="t" rtlCol="false" tIns="0" lIns="0" bIns="0" rIns="0">
              <a:spAutoFit/>
            </a:bodyPr>
            <a:lstStyle/>
            <a:p>
              <a:pPr algn="l" marL="0" indent="0" lvl="0">
                <a:lnSpc>
                  <a:spcPts val="3120"/>
                </a:lnSpc>
                <a:spcBef>
                  <a:spcPct val="0"/>
                </a:spcBef>
              </a:pPr>
              <a:r>
                <a:rPr lang="en-US" sz="2400" strike="noStrike" u="none">
                  <a:solidFill>
                    <a:srgbClr val="FFFFFF"/>
                  </a:solidFill>
                  <a:latin typeface="Carlito"/>
                  <a:ea typeface="Carlito"/>
                  <a:cs typeface="Carlito"/>
                  <a:sym typeface="Carlito"/>
                </a:rPr>
                <a:t>Categorical variables were converted into numerical formats using techniques like one-hot encoding, ensuring that the model can interpret the data effectively without losing information.</a:t>
              </a:r>
            </a:p>
          </p:txBody>
        </p:sp>
      </p:grpSp>
      <p:grpSp>
        <p:nvGrpSpPr>
          <p:cNvPr name="Group 5" id="5"/>
          <p:cNvGrpSpPr/>
          <p:nvPr/>
        </p:nvGrpSpPr>
        <p:grpSpPr>
          <a:xfrm rot="0">
            <a:off x="5853113" y="5143500"/>
            <a:ext cx="4314825" cy="3208020"/>
            <a:chOff x="0" y="0"/>
            <a:chExt cx="5753100" cy="4277360"/>
          </a:xfrm>
        </p:grpSpPr>
        <p:sp>
          <p:nvSpPr>
            <p:cNvPr name="TextBox 6" id="6"/>
            <p:cNvSpPr txBox="true"/>
            <p:nvPr/>
          </p:nvSpPr>
          <p:spPr>
            <a:xfrm rot="0">
              <a:off x="0" y="-47625"/>
              <a:ext cx="5753100" cy="606425"/>
            </a:xfrm>
            <a:prstGeom prst="rect">
              <a:avLst/>
            </a:prstGeom>
          </p:spPr>
          <p:txBody>
            <a:bodyPr anchor="t" rtlCol="false" tIns="0" lIns="0" bIns="0" rIns="0">
              <a:spAutoFit/>
            </a:bodyPr>
            <a:lstStyle/>
            <a:p>
              <a:pPr algn="l" marL="0" indent="0" lvl="0">
                <a:lnSpc>
                  <a:spcPts val="3360"/>
                </a:lnSpc>
                <a:spcBef>
                  <a:spcPct val="0"/>
                </a:spcBef>
              </a:pPr>
              <a:r>
                <a:rPr lang="en-US" b="true" sz="2800" strike="noStrike" u="none">
                  <a:solidFill>
                    <a:srgbClr val="FFFFFF"/>
                  </a:solidFill>
                  <a:latin typeface="Carlito Bold"/>
                  <a:ea typeface="Carlito Bold"/>
                  <a:cs typeface="Carlito Bold"/>
                  <a:sym typeface="Carlito Bold"/>
                </a:rPr>
                <a:t>Feature Scaling</a:t>
              </a:r>
            </a:p>
          </p:txBody>
        </p:sp>
        <p:sp>
          <p:nvSpPr>
            <p:cNvPr name="TextBox 7" id="7"/>
            <p:cNvSpPr txBox="true"/>
            <p:nvPr/>
          </p:nvSpPr>
          <p:spPr>
            <a:xfrm rot="0">
              <a:off x="0" y="1127125"/>
              <a:ext cx="5753100" cy="3150235"/>
            </a:xfrm>
            <a:prstGeom prst="rect">
              <a:avLst/>
            </a:prstGeom>
          </p:spPr>
          <p:txBody>
            <a:bodyPr anchor="t" rtlCol="false" tIns="0" lIns="0" bIns="0" rIns="0">
              <a:spAutoFit/>
            </a:bodyPr>
            <a:lstStyle/>
            <a:p>
              <a:pPr algn="l" marL="0" indent="0" lvl="0">
                <a:lnSpc>
                  <a:spcPts val="3120"/>
                </a:lnSpc>
                <a:spcBef>
                  <a:spcPct val="0"/>
                </a:spcBef>
              </a:pPr>
              <a:r>
                <a:rPr lang="en-US" sz="2400" strike="noStrike" u="none">
                  <a:solidFill>
                    <a:srgbClr val="FFFFFF"/>
                  </a:solidFill>
                  <a:latin typeface="Carlito"/>
                  <a:ea typeface="Carlito"/>
                  <a:cs typeface="Carlito"/>
                  <a:sym typeface="Carlito"/>
                </a:rPr>
                <a:t>Features were standardized using Min-Max scaling to ensure uniformity, allowing algorithms to converge faster and perform optimally across various ranges within the dataset.</a:t>
              </a:r>
            </a:p>
          </p:txBody>
        </p:sp>
      </p:grpSp>
      <p:grpSp>
        <p:nvGrpSpPr>
          <p:cNvPr name="Group 8" id="8"/>
          <p:cNvGrpSpPr/>
          <p:nvPr/>
        </p:nvGrpSpPr>
        <p:grpSpPr>
          <a:xfrm rot="0">
            <a:off x="11044238" y="5143500"/>
            <a:ext cx="4314825" cy="3208020"/>
            <a:chOff x="0" y="0"/>
            <a:chExt cx="5753100" cy="4277360"/>
          </a:xfrm>
        </p:grpSpPr>
        <p:sp>
          <p:nvSpPr>
            <p:cNvPr name="TextBox 9" id="9"/>
            <p:cNvSpPr txBox="true"/>
            <p:nvPr/>
          </p:nvSpPr>
          <p:spPr>
            <a:xfrm rot="0">
              <a:off x="0" y="-47625"/>
              <a:ext cx="5753100" cy="606425"/>
            </a:xfrm>
            <a:prstGeom prst="rect">
              <a:avLst/>
            </a:prstGeom>
          </p:spPr>
          <p:txBody>
            <a:bodyPr anchor="t" rtlCol="false" tIns="0" lIns="0" bIns="0" rIns="0">
              <a:spAutoFit/>
            </a:bodyPr>
            <a:lstStyle/>
            <a:p>
              <a:pPr algn="l" marL="0" indent="0" lvl="0">
                <a:lnSpc>
                  <a:spcPts val="3360"/>
                </a:lnSpc>
                <a:spcBef>
                  <a:spcPct val="0"/>
                </a:spcBef>
              </a:pPr>
              <a:r>
                <a:rPr lang="en-US" b="true" sz="2800" strike="noStrike" u="none">
                  <a:solidFill>
                    <a:srgbClr val="FFFFFF"/>
                  </a:solidFill>
                  <a:latin typeface="Carlito Bold"/>
                  <a:ea typeface="Carlito Bold"/>
                  <a:cs typeface="Carlito Bold"/>
                  <a:sym typeface="Carlito Bold"/>
                </a:rPr>
                <a:t>Data Splitting</a:t>
              </a:r>
            </a:p>
          </p:txBody>
        </p:sp>
        <p:sp>
          <p:nvSpPr>
            <p:cNvPr name="TextBox 10" id="10"/>
            <p:cNvSpPr txBox="true"/>
            <p:nvPr/>
          </p:nvSpPr>
          <p:spPr>
            <a:xfrm rot="0">
              <a:off x="0" y="1127125"/>
              <a:ext cx="5753100" cy="3150235"/>
            </a:xfrm>
            <a:prstGeom prst="rect">
              <a:avLst/>
            </a:prstGeom>
          </p:spPr>
          <p:txBody>
            <a:bodyPr anchor="t" rtlCol="false" tIns="0" lIns="0" bIns="0" rIns="0">
              <a:spAutoFit/>
            </a:bodyPr>
            <a:lstStyle/>
            <a:p>
              <a:pPr algn="l" marL="0" indent="0" lvl="0">
                <a:lnSpc>
                  <a:spcPts val="3120"/>
                </a:lnSpc>
                <a:spcBef>
                  <a:spcPct val="0"/>
                </a:spcBef>
              </a:pPr>
              <a:r>
                <a:rPr lang="en-US" sz="2400" strike="noStrike" u="none">
                  <a:solidFill>
                    <a:srgbClr val="FFFFFF"/>
                  </a:solidFill>
                  <a:latin typeface="Carlito"/>
                  <a:ea typeface="Carlito"/>
                  <a:cs typeface="Carlito"/>
                  <a:sym typeface="Carlito"/>
                </a:rPr>
                <a:t>The dataset was divided into training and testing sets, using an 80/20 split to evaluate model performance accurately and prevent overfitting during the training process.</a:t>
              </a:r>
            </a:p>
          </p:txBody>
        </p:sp>
      </p:grpSp>
      <p:grpSp>
        <p:nvGrpSpPr>
          <p:cNvPr name="Group 11" id="11"/>
          <p:cNvGrpSpPr/>
          <p:nvPr/>
        </p:nvGrpSpPr>
        <p:grpSpPr>
          <a:xfrm rot="0">
            <a:off x="666750" y="666750"/>
            <a:ext cx="12944475" cy="1795780"/>
            <a:chOff x="0" y="0"/>
            <a:chExt cx="17259300" cy="2394374"/>
          </a:xfrm>
        </p:grpSpPr>
        <p:sp>
          <p:nvSpPr>
            <p:cNvPr name="TextBox 12" id="12"/>
            <p:cNvSpPr txBox="true"/>
            <p:nvPr/>
          </p:nvSpPr>
          <p:spPr>
            <a:xfrm rot="0">
              <a:off x="0" y="142875"/>
              <a:ext cx="17259300" cy="1275292"/>
            </a:xfrm>
            <a:prstGeom prst="rect">
              <a:avLst/>
            </a:prstGeom>
          </p:spPr>
          <p:txBody>
            <a:bodyPr anchor="t" rtlCol="false" tIns="0" lIns="0" bIns="0" rIns="0">
              <a:spAutoFit/>
            </a:bodyPr>
            <a:lstStyle/>
            <a:p>
              <a:pPr algn="l" marL="0" indent="0" lvl="0">
                <a:lnSpc>
                  <a:spcPts val="6999"/>
                </a:lnSpc>
              </a:pPr>
              <a:r>
                <a:rPr lang="en-US" sz="6999">
                  <a:solidFill>
                    <a:srgbClr val="FFFFFF"/>
                  </a:solidFill>
                  <a:latin typeface="Radley"/>
                  <a:ea typeface="Radley"/>
                  <a:cs typeface="Radley"/>
                  <a:sym typeface="Radley"/>
                </a:rPr>
                <a:t>Preprocessing Steps</a:t>
              </a:r>
            </a:p>
          </p:txBody>
        </p:sp>
        <p:sp>
          <p:nvSpPr>
            <p:cNvPr name="TextBox 13" id="13"/>
            <p:cNvSpPr txBox="true"/>
            <p:nvPr/>
          </p:nvSpPr>
          <p:spPr>
            <a:xfrm rot="0">
              <a:off x="0" y="1771650"/>
              <a:ext cx="17259300" cy="622724"/>
            </a:xfrm>
            <a:prstGeom prst="rect">
              <a:avLst/>
            </a:prstGeom>
          </p:spPr>
          <p:txBody>
            <a:bodyPr anchor="t" rtlCol="false" tIns="0" lIns="0" bIns="0" rIns="0">
              <a:spAutoFit/>
            </a:bodyPr>
            <a:lstStyle/>
            <a:p>
              <a:pPr algn="l" marL="0" indent="0" lvl="0">
                <a:lnSpc>
                  <a:spcPts val="3919"/>
                </a:lnSpc>
                <a:spcBef>
                  <a:spcPct val="0"/>
                </a:spcBef>
              </a:pPr>
              <a:r>
                <a:rPr lang="en-US" sz="2799" strike="noStrike" u="none">
                  <a:solidFill>
                    <a:srgbClr val="FFFFFF"/>
                  </a:solidFill>
                  <a:latin typeface="Radley"/>
                  <a:ea typeface="Radley"/>
                  <a:cs typeface="Radley"/>
                  <a:sym typeface="Radley"/>
                </a:rPr>
                <a:t>Transforming Data for Effective Modeling</a:t>
              </a:r>
            </a:p>
          </p:txBody>
        </p:sp>
      </p:grpSp>
      <p:grpSp>
        <p:nvGrpSpPr>
          <p:cNvPr name="Group 14" id="14"/>
          <p:cNvGrpSpPr/>
          <p:nvPr/>
        </p:nvGrpSpPr>
        <p:grpSpPr>
          <a:xfrm rot="0">
            <a:off x="17202135" y="459202"/>
            <a:ext cx="2171730" cy="2205796"/>
            <a:chOff x="0" y="0"/>
            <a:chExt cx="812800" cy="825500"/>
          </a:xfrm>
        </p:grpSpPr>
        <p:sp>
          <p:nvSpPr>
            <p:cNvPr name="Freeform 15" id="15"/>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FFFFFF"/>
            </a:solidFill>
          </p:spPr>
        </p:sp>
        <p:sp>
          <p:nvSpPr>
            <p:cNvPr name="TextBox 16" id="16"/>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6750" y="723900"/>
            <a:ext cx="16954500" cy="1004572"/>
          </a:xfrm>
          <a:prstGeom prst="rect">
            <a:avLst/>
          </a:prstGeom>
        </p:spPr>
        <p:txBody>
          <a:bodyPr anchor="t" rtlCol="false" tIns="0" lIns="0" bIns="0" rIns="0">
            <a:spAutoFit/>
          </a:bodyPr>
          <a:lstStyle/>
          <a:p>
            <a:pPr algn="ctr" marL="0" indent="0" lvl="0">
              <a:lnSpc>
                <a:spcPts val="7840"/>
              </a:lnSpc>
              <a:spcBef>
                <a:spcPct val="0"/>
              </a:spcBef>
            </a:pPr>
            <a:r>
              <a:rPr lang="en-US" sz="7000">
                <a:solidFill>
                  <a:srgbClr val="2564D9"/>
                </a:solidFill>
                <a:latin typeface="Radley"/>
                <a:ea typeface="Radley"/>
                <a:cs typeface="Radley"/>
                <a:sym typeface="Radley"/>
              </a:rPr>
              <a:t>Exploratory Insights</a:t>
            </a:r>
          </a:p>
        </p:txBody>
      </p:sp>
      <p:grpSp>
        <p:nvGrpSpPr>
          <p:cNvPr name="Group 3" id="3"/>
          <p:cNvGrpSpPr/>
          <p:nvPr/>
        </p:nvGrpSpPr>
        <p:grpSpPr>
          <a:xfrm rot="0">
            <a:off x="666750" y="3352800"/>
            <a:ext cx="3476954" cy="1096125"/>
            <a:chOff x="0" y="0"/>
            <a:chExt cx="4635939" cy="1461500"/>
          </a:xfrm>
        </p:grpSpPr>
        <p:sp>
          <p:nvSpPr>
            <p:cNvPr name="TextBox 4" id="4"/>
            <p:cNvSpPr txBox="true"/>
            <p:nvPr/>
          </p:nvSpPr>
          <p:spPr>
            <a:xfrm rot="0">
              <a:off x="0" y="-47625"/>
              <a:ext cx="4635939" cy="601684"/>
            </a:xfrm>
            <a:prstGeom prst="rect">
              <a:avLst/>
            </a:prstGeom>
          </p:spPr>
          <p:txBody>
            <a:bodyPr anchor="t" rtlCol="false" tIns="0" lIns="0" bIns="0" rIns="0">
              <a:spAutoFit/>
            </a:bodyPr>
            <a:lstStyle/>
            <a:p>
              <a:pPr algn="l" marL="0" indent="0" lvl="0">
                <a:lnSpc>
                  <a:spcPts val="3870"/>
                </a:lnSpc>
                <a:spcBef>
                  <a:spcPct val="0"/>
                </a:spcBef>
              </a:pPr>
              <a:r>
                <a:rPr lang="en-US" sz="2764">
                  <a:solidFill>
                    <a:srgbClr val="0B3D91"/>
                  </a:solidFill>
                  <a:latin typeface="Radley"/>
                  <a:ea typeface="Radley"/>
                  <a:cs typeface="Radley"/>
                  <a:sym typeface="Radley"/>
                </a:rPr>
                <a:t>Salary Distribution</a:t>
              </a:r>
            </a:p>
          </p:txBody>
        </p:sp>
        <p:sp>
          <p:nvSpPr>
            <p:cNvPr name="TextBox 5" id="5"/>
            <p:cNvSpPr txBox="true"/>
            <p:nvPr/>
          </p:nvSpPr>
          <p:spPr>
            <a:xfrm rot="0">
              <a:off x="0" y="528262"/>
              <a:ext cx="4635939" cy="933238"/>
            </a:xfrm>
            <a:prstGeom prst="rect">
              <a:avLst/>
            </a:prstGeom>
          </p:spPr>
          <p:txBody>
            <a:bodyPr anchor="t" rtlCol="false" tIns="0" lIns="0" bIns="0" rIns="0">
              <a:spAutoFit/>
            </a:bodyPr>
            <a:lstStyle/>
            <a:p>
              <a:pPr algn="l" marL="0" indent="0" lvl="0">
                <a:lnSpc>
                  <a:spcPts val="2764"/>
                </a:lnSpc>
              </a:pPr>
              <a:r>
                <a:rPr lang="en-US" sz="1974">
                  <a:solidFill>
                    <a:srgbClr val="0B3D91"/>
                  </a:solidFill>
                  <a:latin typeface="Carlito"/>
                  <a:ea typeface="Carlito"/>
                  <a:cs typeface="Carlito"/>
                  <a:sym typeface="Carlito"/>
                </a:rPr>
                <a:t>Visual representation of salary ranges</a:t>
              </a:r>
            </a:p>
          </p:txBody>
        </p:sp>
      </p:grpSp>
      <p:grpSp>
        <p:nvGrpSpPr>
          <p:cNvPr name="Group 6" id="6"/>
          <p:cNvGrpSpPr/>
          <p:nvPr/>
        </p:nvGrpSpPr>
        <p:grpSpPr>
          <a:xfrm rot="0">
            <a:off x="9296400" y="3352800"/>
            <a:ext cx="3476954" cy="810239"/>
            <a:chOff x="0" y="0"/>
            <a:chExt cx="4635939" cy="1080318"/>
          </a:xfrm>
        </p:grpSpPr>
        <p:sp>
          <p:nvSpPr>
            <p:cNvPr name="TextBox 7" id="7"/>
            <p:cNvSpPr txBox="true"/>
            <p:nvPr/>
          </p:nvSpPr>
          <p:spPr>
            <a:xfrm rot="0">
              <a:off x="0" y="-47625"/>
              <a:ext cx="4635939" cy="601684"/>
            </a:xfrm>
            <a:prstGeom prst="rect">
              <a:avLst/>
            </a:prstGeom>
          </p:spPr>
          <p:txBody>
            <a:bodyPr anchor="t" rtlCol="false" tIns="0" lIns="0" bIns="0" rIns="0">
              <a:spAutoFit/>
            </a:bodyPr>
            <a:lstStyle/>
            <a:p>
              <a:pPr algn="l" marL="0" indent="0" lvl="0">
                <a:lnSpc>
                  <a:spcPts val="3870"/>
                </a:lnSpc>
                <a:spcBef>
                  <a:spcPct val="0"/>
                </a:spcBef>
              </a:pPr>
              <a:r>
                <a:rPr lang="en-US" sz="2764">
                  <a:solidFill>
                    <a:srgbClr val="0B3D91"/>
                  </a:solidFill>
                  <a:latin typeface="Radley"/>
                  <a:ea typeface="Radley"/>
                  <a:cs typeface="Radley"/>
                  <a:sym typeface="Radley"/>
                </a:rPr>
                <a:t>Outlier Impacts</a:t>
              </a:r>
            </a:p>
          </p:txBody>
        </p:sp>
        <p:sp>
          <p:nvSpPr>
            <p:cNvPr name="TextBox 8" id="8"/>
            <p:cNvSpPr txBox="true"/>
            <p:nvPr/>
          </p:nvSpPr>
          <p:spPr>
            <a:xfrm rot="0">
              <a:off x="0" y="604280"/>
              <a:ext cx="4635939" cy="476038"/>
            </a:xfrm>
            <a:prstGeom prst="rect">
              <a:avLst/>
            </a:prstGeom>
          </p:spPr>
          <p:txBody>
            <a:bodyPr anchor="t" rtlCol="false" tIns="0" lIns="0" bIns="0" rIns="0">
              <a:spAutoFit/>
            </a:bodyPr>
            <a:lstStyle/>
            <a:p>
              <a:pPr algn="l" marL="0" indent="0" lvl="0">
                <a:lnSpc>
                  <a:spcPts val="2764"/>
                </a:lnSpc>
                <a:spcBef>
                  <a:spcPct val="0"/>
                </a:spcBef>
              </a:pPr>
              <a:r>
                <a:rPr lang="en-US" sz="1974" strike="noStrike" u="none">
                  <a:solidFill>
                    <a:srgbClr val="0B3D91"/>
                  </a:solidFill>
                  <a:latin typeface="Carlito"/>
                  <a:ea typeface="Carlito"/>
                  <a:cs typeface="Carlito"/>
                  <a:sym typeface="Carlito"/>
                </a:rPr>
                <a:t>Effects of extreme values on data</a:t>
              </a:r>
            </a:p>
          </p:txBody>
        </p:sp>
      </p:grpSp>
      <p:grpSp>
        <p:nvGrpSpPr>
          <p:cNvPr name="Group 9" id="9"/>
          <p:cNvGrpSpPr/>
          <p:nvPr/>
        </p:nvGrpSpPr>
        <p:grpSpPr>
          <a:xfrm rot="0">
            <a:off x="4981575" y="3352800"/>
            <a:ext cx="3407712" cy="753225"/>
            <a:chOff x="0" y="0"/>
            <a:chExt cx="4543615" cy="1004300"/>
          </a:xfrm>
        </p:grpSpPr>
        <p:sp>
          <p:nvSpPr>
            <p:cNvPr name="TextBox 10" id="10"/>
            <p:cNvSpPr txBox="true"/>
            <p:nvPr/>
          </p:nvSpPr>
          <p:spPr>
            <a:xfrm rot="0">
              <a:off x="0" y="-47625"/>
              <a:ext cx="4543615" cy="601684"/>
            </a:xfrm>
            <a:prstGeom prst="rect">
              <a:avLst/>
            </a:prstGeom>
          </p:spPr>
          <p:txBody>
            <a:bodyPr anchor="t" rtlCol="false" tIns="0" lIns="0" bIns="0" rIns="0">
              <a:spAutoFit/>
            </a:bodyPr>
            <a:lstStyle/>
            <a:p>
              <a:pPr algn="l" marL="0" indent="0" lvl="0">
                <a:lnSpc>
                  <a:spcPts val="3870"/>
                </a:lnSpc>
                <a:spcBef>
                  <a:spcPct val="0"/>
                </a:spcBef>
              </a:pPr>
              <a:r>
                <a:rPr lang="en-US" sz="2764">
                  <a:solidFill>
                    <a:srgbClr val="0B3D91"/>
                  </a:solidFill>
                  <a:latin typeface="Radley"/>
                  <a:ea typeface="Radley"/>
                  <a:cs typeface="Radley"/>
                  <a:sym typeface="Radley"/>
                </a:rPr>
                <a:t>Skill Correlations</a:t>
              </a:r>
            </a:p>
          </p:txBody>
        </p:sp>
        <p:sp>
          <p:nvSpPr>
            <p:cNvPr name="TextBox 11" id="11"/>
            <p:cNvSpPr txBox="true"/>
            <p:nvPr/>
          </p:nvSpPr>
          <p:spPr>
            <a:xfrm rot="0">
              <a:off x="0" y="528262"/>
              <a:ext cx="4543615" cy="476038"/>
            </a:xfrm>
            <a:prstGeom prst="rect">
              <a:avLst/>
            </a:prstGeom>
          </p:spPr>
          <p:txBody>
            <a:bodyPr anchor="t" rtlCol="false" tIns="0" lIns="0" bIns="0" rIns="0">
              <a:spAutoFit/>
            </a:bodyPr>
            <a:lstStyle/>
            <a:p>
              <a:pPr algn="l" marL="0" indent="0" lvl="0">
                <a:lnSpc>
                  <a:spcPts val="2764"/>
                </a:lnSpc>
                <a:spcBef>
                  <a:spcPct val="0"/>
                </a:spcBef>
              </a:pPr>
              <a:r>
                <a:rPr lang="en-US" sz="1974" strike="noStrike" u="none">
                  <a:solidFill>
                    <a:srgbClr val="0B3D91"/>
                  </a:solidFill>
                  <a:latin typeface="Carlito"/>
                  <a:ea typeface="Carlito"/>
                  <a:cs typeface="Carlito"/>
                  <a:sym typeface="Carlito"/>
                </a:rPr>
                <a:t>Insights on skill impact on salary</a:t>
              </a:r>
            </a:p>
          </p:txBody>
        </p:sp>
      </p:grpSp>
      <p:grpSp>
        <p:nvGrpSpPr>
          <p:cNvPr name="Group 12" id="12"/>
          <p:cNvGrpSpPr/>
          <p:nvPr/>
        </p:nvGrpSpPr>
        <p:grpSpPr>
          <a:xfrm rot="0">
            <a:off x="9296400" y="4922520"/>
            <a:ext cx="4010025" cy="4697730"/>
            <a:chOff x="0" y="0"/>
            <a:chExt cx="1391532" cy="1630175"/>
          </a:xfrm>
        </p:grpSpPr>
        <p:sp>
          <p:nvSpPr>
            <p:cNvPr name="Freeform 13" id="13"/>
            <p:cNvSpPr/>
            <p:nvPr/>
          </p:nvSpPr>
          <p:spPr>
            <a:xfrm flipH="false" flipV="false" rot="0">
              <a:off x="0" y="0"/>
              <a:ext cx="1391532" cy="1630175"/>
            </a:xfrm>
            <a:custGeom>
              <a:avLst/>
              <a:gdLst/>
              <a:ahLst/>
              <a:cxnLst/>
              <a:rect r="r" b="b" t="t" l="l"/>
              <a:pathLst>
                <a:path h="1630175" w="1391532">
                  <a:moveTo>
                    <a:pt x="0" y="0"/>
                  </a:moveTo>
                  <a:lnTo>
                    <a:pt x="1391532" y="0"/>
                  </a:lnTo>
                  <a:lnTo>
                    <a:pt x="1391532" y="1630175"/>
                  </a:lnTo>
                  <a:lnTo>
                    <a:pt x="0" y="1630175"/>
                  </a:lnTo>
                  <a:close/>
                </a:path>
              </a:pathLst>
            </a:custGeom>
            <a:blipFill>
              <a:blip r:embed="rId2"/>
              <a:stretch>
                <a:fillRect l="0" t="-138" r="0" b="-138"/>
              </a:stretch>
            </a:blipFill>
          </p:spPr>
        </p:sp>
      </p:grpSp>
      <p:grpSp>
        <p:nvGrpSpPr>
          <p:cNvPr name="Group 14" id="14"/>
          <p:cNvGrpSpPr/>
          <p:nvPr/>
        </p:nvGrpSpPr>
        <p:grpSpPr>
          <a:xfrm rot="0">
            <a:off x="4981575" y="4922520"/>
            <a:ext cx="4010025" cy="4697730"/>
            <a:chOff x="0" y="0"/>
            <a:chExt cx="1391532" cy="1630175"/>
          </a:xfrm>
        </p:grpSpPr>
        <p:sp>
          <p:nvSpPr>
            <p:cNvPr name="Freeform 15" id="15"/>
            <p:cNvSpPr/>
            <p:nvPr/>
          </p:nvSpPr>
          <p:spPr>
            <a:xfrm flipH="false" flipV="false" rot="0">
              <a:off x="0" y="0"/>
              <a:ext cx="1391532" cy="1630175"/>
            </a:xfrm>
            <a:custGeom>
              <a:avLst/>
              <a:gdLst/>
              <a:ahLst/>
              <a:cxnLst/>
              <a:rect r="r" b="b" t="t" l="l"/>
              <a:pathLst>
                <a:path h="1630175" w="1391532">
                  <a:moveTo>
                    <a:pt x="0" y="0"/>
                  </a:moveTo>
                  <a:lnTo>
                    <a:pt x="1391532" y="0"/>
                  </a:lnTo>
                  <a:lnTo>
                    <a:pt x="1391532" y="1630175"/>
                  </a:lnTo>
                  <a:lnTo>
                    <a:pt x="0" y="1630175"/>
                  </a:lnTo>
                  <a:close/>
                </a:path>
              </a:pathLst>
            </a:custGeom>
            <a:blipFill>
              <a:blip r:embed="rId3"/>
              <a:stretch>
                <a:fillRect l="0" t="-138" r="0" b="-138"/>
              </a:stretch>
            </a:blipFill>
          </p:spPr>
        </p:sp>
      </p:grpSp>
      <p:grpSp>
        <p:nvGrpSpPr>
          <p:cNvPr name="Group 16" id="16"/>
          <p:cNvGrpSpPr/>
          <p:nvPr/>
        </p:nvGrpSpPr>
        <p:grpSpPr>
          <a:xfrm rot="0">
            <a:off x="666750" y="4922520"/>
            <a:ext cx="4010025" cy="4697730"/>
            <a:chOff x="0" y="0"/>
            <a:chExt cx="879848" cy="1030739"/>
          </a:xfrm>
        </p:grpSpPr>
        <p:sp>
          <p:nvSpPr>
            <p:cNvPr name="Freeform 17" id="17"/>
            <p:cNvSpPr/>
            <p:nvPr/>
          </p:nvSpPr>
          <p:spPr>
            <a:xfrm flipH="false" flipV="false" rot="0">
              <a:off x="0" y="0"/>
              <a:ext cx="879848" cy="1030739"/>
            </a:xfrm>
            <a:custGeom>
              <a:avLst/>
              <a:gdLst/>
              <a:ahLst/>
              <a:cxnLst/>
              <a:rect r="r" b="b" t="t" l="l"/>
              <a:pathLst>
                <a:path h="1030739" w="879848">
                  <a:moveTo>
                    <a:pt x="0" y="0"/>
                  </a:moveTo>
                  <a:lnTo>
                    <a:pt x="879848" y="0"/>
                  </a:lnTo>
                  <a:lnTo>
                    <a:pt x="879848" y="1030739"/>
                  </a:lnTo>
                  <a:lnTo>
                    <a:pt x="0" y="1030739"/>
                  </a:lnTo>
                  <a:close/>
                </a:path>
              </a:pathLst>
            </a:custGeom>
            <a:blipFill>
              <a:blip r:embed="rId4"/>
              <a:stretch>
                <a:fillRect l="0" t="-138" r="0" b="-138"/>
              </a:stretch>
            </a:blipFill>
          </p:spPr>
        </p:sp>
      </p:grpSp>
      <p:grpSp>
        <p:nvGrpSpPr>
          <p:cNvPr name="Group 18" id="18"/>
          <p:cNvGrpSpPr/>
          <p:nvPr/>
        </p:nvGrpSpPr>
        <p:grpSpPr>
          <a:xfrm rot="0">
            <a:off x="13611554" y="4922520"/>
            <a:ext cx="4010025" cy="4697730"/>
            <a:chOff x="0" y="0"/>
            <a:chExt cx="1391532" cy="1630175"/>
          </a:xfrm>
        </p:grpSpPr>
        <p:sp>
          <p:nvSpPr>
            <p:cNvPr name="Freeform 19" id="19"/>
            <p:cNvSpPr/>
            <p:nvPr/>
          </p:nvSpPr>
          <p:spPr>
            <a:xfrm flipH="false" flipV="false" rot="0">
              <a:off x="0" y="0"/>
              <a:ext cx="1391532" cy="1630175"/>
            </a:xfrm>
            <a:custGeom>
              <a:avLst/>
              <a:gdLst/>
              <a:ahLst/>
              <a:cxnLst/>
              <a:rect r="r" b="b" t="t" l="l"/>
              <a:pathLst>
                <a:path h="1630175" w="1391532">
                  <a:moveTo>
                    <a:pt x="0" y="0"/>
                  </a:moveTo>
                  <a:lnTo>
                    <a:pt x="1391532" y="0"/>
                  </a:lnTo>
                  <a:lnTo>
                    <a:pt x="1391532" y="1630175"/>
                  </a:lnTo>
                  <a:lnTo>
                    <a:pt x="0" y="1630175"/>
                  </a:lnTo>
                  <a:close/>
                </a:path>
              </a:pathLst>
            </a:custGeom>
            <a:blipFill>
              <a:blip r:embed="rId5"/>
              <a:stretch>
                <a:fillRect l="0" t="-138" r="0" b="-138"/>
              </a:stretch>
            </a:blipFill>
          </p:spPr>
        </p:sp>
      </p:grpSp>
      <p:grpSp>
        <p:nvGrpSpPr>
          <p:cNvPr name="Group 20" id="20"/>
          <p:cNvGrpSpPr/>
          <p:nvPr/>
        </p:nvGrpSpPr>
        <p:grpSpPr>
          <a:xfrm rot="0">
            <a:off x="13611554" y="3352800"/>
            <a:ext cx="3476954" cy="1153139"/>
            <a:chOff x="0" y="0"/>
            <a:chExt cx="4635939" cy="1537518"/>
          </a:xfrm>
        </p:grpSpPr>
        <p:sp>
          <p:nvSpPr>
            <p:cNvPr name="TextBox 21" id="21"/>
            <p:cNvSpPr txBox="true"/>
            <p:nvPr/>
          </p:nvSpPr>
          <p:spPr>
            <a:xfrm rot="0">
              <a:off x="0" y="-47625"/>
              <a:ext cx="4635939" cy="601684"/>
            </a:xfrm>
            <a:prstGeom prst="rect">
              <a:avLst/>
            </a:prstGeom>
          </p:spPr>
          <p:txBody>
            <a:bodyPr anchor="t" rtlCol="false" tIns="0" lIns="0" bIns="0" rIns="0">
              <a:spAutoFit/>
            </a:bodyPr>
            <a:lstStyle/>
            <a:p>
              <a:pPr algn="l" marL="0" indent="0" lvl="0">
                <a:lnSpc>
                  <a:spcPts val="3870"/>
                </a:lnSpc>
                <a:spcBef>
                  <a:spcPct val="0"/>
                </a:spcBef>
              </a:pPr>
              <a:r>
                <a:rPr lang="en-US" sz="2764">
                  <a:solidFill>
                    <a:srgbClr val="0B3D91"/>
                  </a:solidFill>
                  <a:latin typeface="Radley"/>
                  <a:ea typeface="Radley"/>
                  <a:cs typeface="Radley"/>
                  <a:sym typeface="Radley"/>
                </a:rPr>
                <a:t>Trends Over Time</a:t>
              </a:r>
            </a:p>
          </p:txBody>
        </p:sp>
        <p:sp>
          <p:nvSpPr>
            <p:cNvPr name="TextBox 22" id="22"/>
            <p:cNvSpPr txBox="true"/>
            <p:nvPr/>
          </p:nvSpPr>
          <p:spPr>
            <a:xfrm rot="0">
              <a:off x="0" y="604280"/>
              <a:ext cx="4635939" cy="933238"/>
            </a:xfrm>
            <a:prstGeom prst="rect">
              <a:avLst/>
            </a:prstGeom>
          </p:spPr>
          <p:txBody>
            <a:bodyPr anchor="t" rtlCol="false" tIns="0" lIns="0" bIns="0" rIns="0">
              <a:spAutoFit/>
            </a:bodyPr>
            <a:lstStyle/>
            <a:p>
              <a:pPr algn="l" marL="0" indent="0" lvl="0">
                <a:lnSpc>
                  <a:spcPts val="2764"/>
                </a:lnSpc>
                <a:spcBef>
                  <a:spcPct val="0"/>
                </a:spcBef>
              </a:pPr>
              <a:r>
                <a:rPr lang="en-US" sz="1974" strike="noStrike" u="none">
                  <a:solidFill>
                    <a:srgbClr val="0B3D91"/>
                  </a:solidFill>
                  <a:latin typeface="Carlito"/>
                  <a:ea typeface="Carlito"/>
                  <a:cs typeface="Carlito"/>
                  <a:sym typeface="Carlito"/>
                </a:rPr>
                <a:t>Salary changes across different years</a:t>
              </a: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0B3D91"/>
        </a:solidFill>
      </p:bgPr>
    </p:bg>
    <p:spTree>
      <p:nvGrpSpPr>
        <p:cNvPr id="1" name=""/>
        <p:cNvGrpSpPr/>
        <p:nvPr/>
      </p:nvGrpSpPr>
      <p:grpSpPr>
        <a:xfrm>
          <a:off x="0" y="0"/>
          <a:ext cx="0" cy="0"/>
          <a:chOff x="0" y="0"/>
          <a:chExt cx="0" cy="0"/>
        </a:xfrm>
      </p:grpSpPr>
      <p:sp>
        <p:nvSpPr>
          <p:cNvPr name="TextBox 2" id="2"/>
          <p:cNvSpPr txBox="true"/>
          <p:nvPr/>
        </p:nvSpPr>
        <p:spPr>
          <a:xfrm rot="0">
            <a:off x="666750" y="7631430"/>
            <a:ext cx="9567492" cy="1988820"/>
          </a:xfrm>
          <a:prstGeom prst="rect">
            <a:avLst/>
          </a:prstGeom>
        </p:spPr>
        <p:txBody>
          <a:bodyPr anchor="t" rtlCol="false" tIns="0" lIns="0" bIns="0" rIns="0">
            <a:spAutoFit/>
          </a:bodyPr>
          <a:lstStyle/>
          <a:p>
            <a:pPr algn="l" marL="0" indent="0" lvl="0">
              <a:lnSpc>
                <a:spcPts val="3120"/>
              </a:lnSpc>
            </a:pPr>
            <a:r>
              <a:rPr lang="en-US" sz="2400">
                <a:solidFill>
                  <a:srgbClr val="B3C7F9"/>
                </a:solidFill>
                <a:latin typeface="Carlito"/>
                <a:ea typeface="Carlito"/>
                <a:cs typeface="Carlito"/>
                <a:sym typeface="Carlito"/>
              </a:rPr>
              <a:t>In this section, we explore the various algorithms implemented for predicting average salaries. The chosen models include linear regression, decision trees, and random forests. Each model was carefully evaluated based on its training setup, including feature selection and cross-validation techniques, ensuring optimal performance and robust predictions throughout the ML pipeline.</a:t>
            </a:r>
          </a:p>
        </p:txBody>
      </p:sp>
      <p:grpSp>
        <p:nvGrpSpPr>
          <p:cNvPr name="Group 3" id="3"/>
          <p:cNvGrpSpPr/>
          <p:nvPr/>
        </p:nvGrpSpPr>
        <p:grpSpPr>
          <a:xfrm rot="0">
            <a:off x="666750" y="666750"/>
            <a:ext cx="12944475" cy="1795780"/>
            <a:chOff x="0" y="0"/>
            <a:chExt cx="17259300" cy="2394374"/>
          </a:xfrm>
        </p:grpSpPr>
        <p:sp>
          <p:nvSpPr>
            <p:cNvPr name="TextBox 4" id="4"/>
            <p:cNvSpPr txBox="true"/>
            <p:nvPr/>
          </p:nvSpPr>
          <p:spPr>
            <a:xfrm rot="0">
              <a:off x="0" y="142875"/>
              <a:ext cx="17259300" cy="1275292"/>
            </a:xfrm>
            <a:prstGeom prst="rect">
              <a:avLst/>
            </a:prstGeom>
          </p:spPr>
          <p:txBody>
            <a:bodyPr anchor="t" rtlCol="false" tIns="0" lIns="0" bIns="0" rIns="0">
              <a:spAutoFit/>
            </a:bodyPr>
            <a:lstStyle/>
            <a:p>
              <a:pPr algn="l" marL="0" indent="0" lvl="0">
                <a:lnSpc>
                  <a:spcPts val="6999"/>
                </a:lnSpc>
              </a:pPr>
              <a:r>
                <a:rPr lang="en-US" sz="6999">
                  <a:solidFill>
                    <a:srgbClr val="FFFFFF"/>
                  </a:solidFill>
                  <a:latin typeface="Radley"/>
                  <a:ea typeface="Radley"/>
                  <a:cs typeface="Radley"/>
                  <a:sym typeface="Radley"/>
                </a:rPr>
                <a:t>Model Building</a:t>
              </a:r>
            </a:p>
          </p:txBody>
        </p:sp>
        <p:sp>
          <p:nvSpPr>
            <p:cNvPr name="TextBox 5" id="5"/>
            <p:cNvSpPr txBox="true"/>
            <p:nvPr/>
          </p:nvSpPr>
          <p:spPr>
            <a:xfrm rot="0">
              <a:off x="0" y="1771650"/>
              <a:ext cx="17259300" cy="622724"/>
            </a:xfrm>
            <a:prstGeom prst="rect">
              <a:avLst/>
            </a:prstGeom>
          </p:spPr>
          <p:txBody>
            <a:bodyPr anchor="t" rtlCol="false" tIns="0" lIns="0" bIns="0" rIns="0">
              <a:spAutoFit/>
            </a:bodyPr>
            <a:lstStyle/>
            <a:p>
              <a:pPr algn="l" marL="0" indent="0" lvl="0">
                <a:lnSpc>
                  <a:spcPts val="3919"/>
                </a:lnSpc>
                <a:spcBef>
                  <a:spcPct val="0"/>
                </a:spcBef>
              </a:pPr>
              <a:r>
                <a:rPr lang="en-US" sz="2799" strike="noStrike" u="none">
                  <a:solidFill>
                    <a:srgbClr val="FFFFFF"/>
                  </a:solidFill>
                  <a:latin typeface="Radley"/>
                  <a:ea typeface="Radley"/>
                  <a:cs typeface="Radley"/>
                  <a:sym typeface="Radley"/>
                </a:rPr>
                <a:t>Overview of algorithms and training setup</a:t>
              </a:r>
            </a:p>
          </p:txBody>
        </p:sp>
      </p:grpSp>
      <p:grpSp>
        <p:nvGrpSpPr>
          <p:cNvPr name="Group 6" id="6"/>
          <p:cNvGrpSpPr/>
          <p:nvPr/>
        </p:nvGrpSpPr>
        <p:grpSpPr>
          <a:xfrm rot="0">
            <a:off x="17202135" y="459202"/>
            <a:ext cx="2171730" cy="2205796"/>
            <a:chOff x="0" y="0"/>
            <a:chExt cx="812800" cy="825500"/>
          </a:xfrm>
        </p:grpSpPr>
        <p:sp>
          <p:nvSpPr>
            <p:cNvPr name="Freeform 7" id="7"/>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FFFFFF"/>
            </a:solidFill>
          </p:spPr>
        </p:sp>
        <p:sp>
          <p:nvSpPr>
            <p:cNvPr name="TextBox 8" id="8"/>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66750" y="6850380"/>
            <a:ext cx="9567492" cy="2769870"/>
          </a:xfrm>
          <a:prstGeom prst="rect">
            <a:avLst/>
          </a:prstGeom>
        </p:spPr>
        <p:txBody>
          <a:bodyPr anchor="t" rtlCol="false" tIns="0" lIns="0" bIns="0" rIns="0">
            <a:spAutoFit/>
          </a:bodyPr>
          <a:lstStyle/>
          <a:p>
            <a:pPr algn="l" marL="0" indent="0" lvl="0">
              <a:lnSpc>
                <a:spcPts val="3120"/>
              </a:lnSpc>
            </a:pPr>
            <a:r>
              <a:rPr lang="en-US" sz="2400">
                <a:solidFill>
                  <a:srgbClr val="0B3D91"/>
                </a:solidFill>
                <a:latin typeface="Carlito"/>
                <a:ea typeface="Carlito"/>
                <a:cs typeface="Carlito"/>
                <a:sym typeface="Carlito"/>
              </a:rPr>
              <a:t>Hyperparameter tuning is crucial for enhancing model accuracy. In this project, we utilized GridSearch and RandomSearch techniques to systematically explore various combinations of hyperparameters. By identifying the optimal settings for each model, we achieved significant improvements in performance metrics, ensuring a robust and reliable salary prediction model. This process is essential for maximizing predictive capabilities.</a:t>
            </a:r>
          </a:p>
        </p:txBody>
      </p:sp>
      <p:grpSp>
        <p:nvGrpSpPr>
          <p:cNvPr name="Group 3" id="3"/>
          <p:cNvGrpSpPr/>
          <p:nvPr/>
        </p:nvGrpSpPr>
        <p:grpSpPr>
          <a:xfrm rot="0">
            <a:off x="666750" y="666750"/>
            <a:ext cx="12944475" cy="1795780"/>
            <a:chOff x="0" y="0"/>
            <a:chExt cx="17259300" cy="2394374"/>
          </a:xfrm>
        </p:grpSpPr>
        <p:sp>
          <p:nvSpPr>
            <p:cNvPr name="TextBox 4" id="4"/>
            <p:cNvSpPr txBox="true"/>
            <p:nvPr/>
          </p:nvSpPr>
          <p:spPr>
            <a:xfrm rot="0">
              <a:off x="0" y="142875"/>
              <a:ext cx="17259300" cy="1275292"/>
            </a:xfrm>
            <a:prstGeom prst="rect">
              <a:avLst/>
            </a:prstGeom>
          </p:spPr>
          <p:txBody>
            <a:bodyPr anchor="t" rtlCol="false" tIns="0" lIns="0" bIns="0" rIns="0">
              <a:spAutoFit/>
            </a:bodyPr>
            <a:lstStyle/>
            <a:p>
              <a:pPr algn="l" marL="0" indent="0" lvl="0">
                <a:lnSpc>
                  <a:spcPts val="6999"/>
                </a:lnSpc>
              </a:pPr>
              <a:r>
                <a:rPr lang="en-US" sz="6999">
                  <a:solidFill>
                    <a:srgbClr val="2564D9"/>
                  </a:solidFill>
                  <a:latin typeface="Radley"/>
                  <a:ea typeface="Radley"/>
                  <a:cs typeface="Radley"/>
                  <a:sym typeface="Radley"/>
                </a:rPr>
                <a:t>Hyperparameter Tuning</a:t>
              </a:r>
            </a:p>
          </p:txBody>
        </p:sp>
        <p:sp>
          <p:nvSpPr>
            <p:cNvPr name="TextBox 5" id="5"/>
            <p:cNvSpPr txBox="true"/>
            <p:nvPr/>
          </p:nvSpPr>
          <p:spPr>
            <a:xfrm rot="0">
              <a:off x="0" y="1771650"/>
              <a:ext cx="17259300" cy="622724"/>
            </a:xfrm>
            <a:prstGeom prst="rect">
              <a:avLst/>
            </a:prstGeom>
          </p:spPr>
          <p:txBody>
            <a:bodyPr anchor="t" rtlCol="false" tIns="0" lIns="0" bIns="0" rIns="0">
              <a:spAutoFit/>
            </a:bodyPr>
            <a:lstStyle/>
            <a:p>
              <a:pPr algn="l" marL="0" indent="0" lvl="0">
                <a:lnSpc>
                  <a:spcPts val="3919"/>
                </a:lnSpc>
                <a:spcBef>
                  <a:spcPct val="0"/>
                </a:spcBef>
              </a:pPr>
              <a:r>
                <a:rPr lang="en-US" sz="2799" strike="noStrike" u="none">
                  <a:solidFill>
                    <a:srgbClr val="0B3D91"/>
                  </a:solidFill>
                  <a:latin typeface="Radley"/>
                  <a:ea typeface="Radley"/>
                  <a:cs typeface="Radley"/>
                  <a:sym typeface="Radley"/>
                </a:rPr>
                <a:t>Optimizing Model Performance with Techniques</a:t>
              </a:r>
            </a:p>
          </p:txBody>
        </p:sp>
      </p:grpSp>
      <p:grpSp>
        <p:nvGrpSpPr>
          <p:cNvPr name="Group 6" id="6"/>
          <p:cNvGrpSpPr/>
          <p:nvPr/>
        </p:nvGrpSpPr>
        <p:grpSpPr>
          <a:xfrm rot="0">
            <a:off x="17202135" y="459202"/>
            <a:ext cx="2171730" cy="2205796"/>
            <a:chOff x="0" y="0"/>
            <a:chExt cx="812800" cy="825500"/>
          </a:xfrm>
        </p:grpSpPr>
        <p:sp>
          <p:nvSpPr>
            <p:cNvPr name="Freeform 7" id="7"/>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0B3D91"/>
            </a:solidFill>
          </p:spPr>
        </p:sp>
        <p:sp>
          <p:nvSpPr>
            <p:cNvPr name="TextBox 8" id="8"/>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B3D91"/>
        </a:solidFill>
      </p:bgPr>
    </p:bg>
    <p:spTree>
      <p:nvGrpSpPr>
        <p:cNvPr id="1" name=""/>
        <p:cNvGrpSpPr/>
        <p:nvPr/>
      </p:nvGrpSpPr>
      <p:grpSpPr>
        <a:xfrm>
          <a:off x="0" y="0"/>
          <a:ext cx="0" cy="0"/>
          <a:chOff x="0" y="0"/>
          <a:chExt cx="0" cy="0"/>
        </a:xfrm>
      </p:grpSpPr>
      <p:grpSp>
        <p:nvGrpSpPr>
          <p:cNvPr name="Group 2" id="2"/>
          <p:cNvGrpSpPr/>
          <p:nvPr/>
        </p:nvGrpSpPr>
        <p:grpSpPr>
          <a:xfrm rot="0">
            <a:off x="9296400" y="2699080"/>
            <a:ext cx="6057900" cy="3808886"/>
            <a:chOff x="0" y="0"/>
            <a:chExt cx="8077200" cy="5078514"/>
          </a:xfrm>
        </p:grpSpPr>
        <p:sp>
          <p:nvSpPr>
            <p:cNvPr name="TextBox 3" id="3"/>
            <p:cNvSpPr txBox="true"/>
            <p:nvPr/>
          </p:nvSpPr>
          <p:spPr>
            <a:xfrm rot="0">
              <a:off x="0" y="400050"/>
              <a:ext cx="8077200" cy="2498091"/>
            </a:xfrm>
            <a:prstGeom prst="rect">
              <a:avLst/>
            </a:prstGeom>
          </p:spPr>
          <p:txBody>
            <a:bodyPr anchor="t" rtlCol="false" tIns="0" lIns="0" bIns="0" rIns="0">
              <a:spAutoFit/>
            </a:bodyPr>
            <a:lstStyle/>
            <a:p>
              <a:pPr algn="l" marL="0" indent="0" lvl="0">
                <a:lnSpc>
                  <a:spcPts val="12870"/>
                </a:lnSpc>
              </a:pPr>
              <a:r>
                <a:rPr lang="en-US" sz="14300" spc="-715" strike="noStrike" u="none">
                  <a:solidFill>
                    <a:srgbClr val="FFFFFF"/>
                  </a:solidFill>
                  <a:latin typeface="Radley"/>
                  <a:ea typeface="Radley"/>
                  <a:cs typeface="Radley"/>
                  <a:sym typeface="Radley"/>
                </a:rPr>
                <a:t>R²</a:t>
              </a:r>
            </a:p>
          </p:txBody>
        </p:sp>
        <p:sp>
          <p:nvSpPr>
            <p:cNvPr name="TextBox 4" id="4"/>
            <p:cNvSpPr txBox="true"/>
            <p:nvPr/>
          </p:nvSpPr>
          <p:spPr>
            <a:xfrm rot="0">
              <a:off x="0" y="3660348"/>
              <a:ext cx="8077200" cy="1418166"/>
            </a:xfrm>
            <a:prstGeom prst="rect">
              <a:avLst/>
            </a:prstGeom>
          </p:spPr>
          <p:txBody>
            <a:bodyPr anchor="t" rtlCol="false" tIns="0" lIns="0" bIns="0" rIns="0">
              <a:spAutoFit/>
            </a:bodyPr>
            <a:lstStyle/>
            <a:p>
              <a:pPr algn="l" marL="0" indent="0" lvl="0">
                <a:lnSpc>
                  <a:spcPts val="2800"/>
                </a:lnSpc>
                <a:spcBef>
                  <a:spcPct val="0"/>
                </a:spcBef>
              </a:pPr>
              <a:r>
                <a:rPr lang="en-US" sz="2000" u="none">
                  <a:solidFill>
                    <a:srgbClr val="FFFFFF"/>
                  </a:solidFill>
                  <a:latin typeface="Carlito"/>
                  <a:ea typeface="Carlito"/>
                  <a:cs typeface="Carlito"/>
                  <a:sym typeface="Carlito"/>
                </a:rPr>
                <a:t>The R² value indicates how well our model explains the variance in salary data, reflecting its effectiveness in predicting average salaries for different factors.</a:t>
              </a:r>
            </a:p>
          </p:txBody>
        </p:sp>
        <p:sp>
          <p:nvSpPr>
            <p:cNvPr name="AutoShape 5" id="5"/>
            <p:cNvSpPr/>
            <p:nvPr/>
          </p:nvSpPr>
          <p:spPr>
            <a:xfrm>
              <a:off x="0" y="3271926"/>
              <a:ext cx="8077200" cy="0"/>
            </a:xfrm>
            <a:prstGeom prst="line">
              <a:avLst/>
            </a:prstGeom>
            <a:ln cap="flat" w="25400">
              <a:solidFill>
                <a:srgbClr val="FFFFFF"/>
              </a:solidFill>
              <a:prstDash val="solid"/>
              <a:headEnd type="none" len="sm" w="sm"/>
              <a:tailEnd type="none" len="sm" w="sm"/>
            </a:ln>
          </p:spPr>
        </p:sp>
      </p:grpSp>
      <p:grpSp>
        <p:nvGrpSpPr>
          <p:cNvPr name="Group 6" id="6"/>
          <p:cNvGrpSpPr/>
          <p:nvPr/>
        </p:nvGrpSpPr>
        <p:grpSpPr>
          <a:xfrm rot="0">
            <a:off x="0" y="0"/>
            <a:ext cx="7858125" cy="10287000"/>
            <a:chOff x="0" y="0"/>
            <a:chExt cx="2677931" cy="3505655"/>
          </a:xfrm>
        </p:grpSpPr>
        <p:sp>
          <p:nvSpPr>
            <p:cNvPr name="Freeform 7" id="7"/>
            <p:cNvSpPr/>
            <p:nvPr/>
          </p:nvSpPr>
          <p:spPr>
            <a:xfrm flipH="false" flipV="false" rot="0">
              <a:off x="0" y="0"/>
              <a:ext cx="2677931" cy="3505655"/>
            </a:xfrm>
            <a:custGeom>
              <a:avLst/>
              <a:gdLst/>
              <a:ahLst/>
              <a:cxnLst/>
              <a:rect r="r" b="b" t="t" l="l"/>
              <a:pathLst>
                <a:path h="3505655" w="2677931">
                  <a:moveTo>
                    <a:pt x="0" y="0"/>
                  </a:moveTo>
                  <a:lnTo>
                    <a:pt x="2677931" y="0"/>
                  </a:lnTo>
                  <a:lnTo>
                    <a:pt x="2677931" y="3505655"/>
                  </a:lnTo>
                  <a:lnTo>
                    <a:pt x="0" y="3505655"/>
                  </a:lnTo>
                  <a:close/>
                </a:path>
              </a:pathLst>
            </a:custGeom>
            <a:blipFill>
              <a:blip r:embed="rId2"/>
              <a:stretch>
                <a:fillRect l="0" t="-255" r="0" b="-255"/>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734674" y="2932118"/>
            <a:ext cx="6569697" cy="4349743"/>
            <a:chOff x="0" y="0"/>
            <a:chExt cx="8759596" cy="5799657"/>
          </a:xfrm>
        </p:grpSpPr>
        <p:sp>
          <p:nvSpPr>
            <p:cNvPr name="AutoShape 3" id="3"/>
            <p:cNvSpPr/>
            <p:nvPr/>
          </p:nvSpPr>
          <p:spPr>
            <a:xfrm flipV="true">
              <a:off x="18" y="4140192"/>
              <a:ext cx="8759543" cy="12700"/>
            </a:xfrm>
            <a:prstGeom prst="line">
              <a:avLst/>
            </a:prstGeom>
            <a:ln cap="flat" w="25400">
              <a:solidFill>
                <a:srgbClr val="0B3D91"/>
              </a:solidFill>
              <a:prstDash val="solid"/>
              <a:headEnd type="none" len="sm" w="sm"/>
              <a:tailEnd type="none" len="sm" w="sm"/>
            </a:ln>
          </p:spPr>
        </p:sp>
        <p:sp>
          <p:nvSpPr>
            <p:cNvPr name="AutoShape 4" id="4"/>
            <p:cNvSpPr/>
            <p:nvPr/>
          </p:nvSpPr>
          <p:spPr>
            <a:xfrm flipV="true">
              <a:off x="35" y="1748365"/>
              <a:ext cx="8759543" cy="12700"/>
            </a:xfrm>
            <a:prstGeom prst="line">
              <a:avLst/>
            </a:prstGeom>
            <a:ln cap="flat" w="25400">
              <a:solidFill>
                <a:srgbClr val="0B3D91"/>
              </a:solidFill>
              <a:prstDash val="solid"/>
              <a:headEnd type="none" len="sm" w="sm"/>
              <a:tailEnd type="none" len="sm" w="sm"/>
            </a:ln>
          </p:spPr>
        </p:sp>
        <p:sp>
          <p:nvSpPr>
            <p:cNvPr name="TextBox 5" id="5"/>
            <p:cNvSpPr txBox="true"/>
            <p:nvPr/>
          </p:nvSpPr>
          <p:spPr>
            <a:xfrm rot="0">
              <a:off x="52" y="-76200"/>
              <a:ext cx="8759543" cy="47836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0B3D91"/>
                  </a:solidFill>
                  <a:latin typeface="Carlito"/>
                  <a:ea typeface="Carlito"/>
                  <a:cs typeface="Carlito"/>
                  <a:sym typeface="Carlito"/>
                </a:rPr>
                <a:t>WEBSITE</a:t>
              </a:r>
            </a:p>
          </p:txBody>
        </p:sp>
        <p:sp>
          <p:nvSpPr>
            <p:cNvPr name="TextBox 6" id="6"/>
            <p:cNvSpPr txBox="true"/>
            <p:nvPr/>
          </p:nvSpPr>
          <p:spPr>
            <a:xfrm rot="0">
              <a:off x="52" y="414865"/>
              <a:ext cx="8759543" cy="698500"/>
            </a:xfrm>
            <a:prstGeom prst="rect">
              <a:avLst/>
            </a:prstGeom>
          </p:spPr>
          <p:txBody>
            <a:bodyPr anchor="t" rtlCol="false" tIns="0" lIns="0" bIns="0" rIns="0">
              <a:spAutoFit/>
            </a:bodyPr>
            <a:lstStyle/>
            <a:p>
              <a:pPr algn="l" marL="0" indent="0" lvl="0">
                <a:lnSpc>
                  <a:spcPts val="4199"/>
                </a:lnSpc>
              </a:pPr>
              <a:r>
                <a:rPr lang="en-US" sz="3499" u="sng">
                  <a:solidFill>
                    <a:srgbClr val="0B3D91"/>
                  </a:solidFill>
                  <a:latin typeface="Radley"/>
                  <a:ea typeface="Radley"/>
                  <a:cs typeface="Radley"/>
                  <a:sym typeface="Radley"/>
                  <a:hlinkClick r:id="rId2" tooltip="https://github.com/akashjana2123/IBM_salary_predictor"/>
                </a:rPr>
                <a:t>IBM_salary_predictor</a:t>
              </a:r>
            </a:p>
          </p:txBody>
        </p:sp>
        <p:sp>
          <p:nvSpPr>
            <p:cNvPr name="TextBox 7" id="7"/>
            <p:cNvSpPr txBox="true"/>
            <p:nvPr/>
          </p:nvSpPr>
          <p:spPr>
            <a:xfrm rot="0">
              <a:off x="52" y="2317746"/>
              <a:ext cx="8759543" cy="47836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0B3D91"/>
                  </a:solidFill>
                  <a:latin typeface="Carlito"/>
                  <a:ea typeface="Carlito"/>
                  <a:cs typeface="Carlito"/>
                  <a:sym typeface="Carlito"/>
                </a:rPr>
                <a:t>EMAIL</a:t>
              </a:r>
            </a:p>
          </p:txBody>
        </p:sp>
        <p:sp>
          <p:nvSpPr>
            <p:cNvPr name="TextBox 8" id="8"/>
            <p:cNvSpPr txBox="true"/>
            <p:nvPr/>
          </p:nvSpPr>
          <p:spPr>
            <a:xfrm rot="0">
              <a:off x="52" y="2808811"/>
              <a:ext cx="8759543" cy="698500"/>
            </a:xfrm>
            <a:prstGeom prst="rect">
              <a:avLst/>
            </a:prstGeom>
          </p:spPr>
          <p:txBody>
            <a:bodyPr anchor="t" rtlCol="false" tIns="0" lIns="0" bIns="0" rIns="0">
              <a:spAutoFit/>
            </a:bodyPr>
            <a:lstStyle/>
            <a:p>
              <a:pPr algn="l" marL="0" indent="0" lvl="0">
                <a:lnSpc>
                  <a:spcPts val="4199"/>
                </a:lnSpc>
                <a:spcBef>
                  <a:spcPct val="0"/>
                </a:spcBef>
              </a:pPr>
              <a:r>
                <a:rPr lang="en-US" sz="3499">
                  <a:solidFill>
                    <a:srgbClr val="0B3D91"/>
                  </a:solidFill>
                  <a:latin typeface="Radley"/>
                  <a:ea typeface="Radley"/>
                  <a:cs typeface="Radley"/>
                  <a:sym typeface="Radley"/>
                </a:rPr>
                <a:t>akashjana.at.btech@gmail.com</a:t>
              </a:r>
            </a:p>
          </p:txBody>
        </p:sp>
        <p:sp>
          <p:nvSpPr>
            <p:cNvPr name="TextBox 9" id="9"/>
            <p:cNvSpPr txBox="true"/>
            <p:nvPr/>
          </p:nvSpPr>
          <p:spPr>
            <a:xfrm rot="0">
              <a:off x="52" y="4610092"/>
              <a:ext cx="8759543" cy="47836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0B3D91"/>
                  </a:solidFill>
                  <a:latin typeface="Carlito"/>
                  <a:ea typeface="Carlito"/>
                  <a:cs typeface="Carlito"/>
                  <a:sym typeface="Carlito"/>
                </a:rPr>
                <a:t>PHONE</a:t>
              </a:r>
            </a:p>
          </p:txBody>
        </p:sp>
        <p:sp>
          <p:nvSpPr>
            <p:cNvPr name="TextBox 10" id="10"/>
            <p:cNvSpPr txBox="true"/>
            <p:nvPr/>
          </p:nvSpPr>
          <p:spPr>
            <a:xfrm rot="0">
              <a:off x="52" y="5101157"/>
              <a:ext cx="8759543" cy="698500"/>
            </a:xfrm>
            <a:prstGeom prst="rect">
              <a:avLst/>
            </a:prstGeom>
          </p:spPr>
          <p:txBody>
            <a:bodyPr anchor="t" rtlCol="false" tIns="0" lIns="0" bIns="0" rIns="0">
              <a:spAutoFit/>
            </a:bodyPr>
            <a:lstStyle/>
            <a:p>
              <a:pPr algn="l" marL="0" indent="0" lvl="0">
                <a:lnSpc>
                  <a:spcPts val="4199"/>
                </a:lnSpc>
                <a:spcBef>
                  <a:spcPct val="0"/>
                </a:spcBef>
              </a:pPr>
              <a:r>
                <a:rPr lang="en-US" sz="3499">
                  <a:solidFill>
                    <a:srgbClr val="0B3D91"/>
                  </a:solidFill>
                  <a:latin typeface="Radley"/>
                  <a:ea typeface="Radley"/>
                  <a:cs typeface="Radley"/>
                  <a:sym typeface="Radley"/>
                </a:rPr>
                <a:t>+91 7427984933</a:t>
              </a:r>
            </a:p>
          </p:txBody>
        </p:sp>
      </p:grpSp>
      <p:grpSp>
        <p:nvGrpSpPr>
          <p:cNvPr name="Group 11" id="11"/>
          <p:cNvGrpSpPr/>
          <p:nvPr/>
        </p:nvGrpSpPr>
        <p:grpSpPr>
          <a:xfrm rot="0">
            <a:off x="666750" y="3954109"/>
            <a:ext cx="8324850" cy="1930719"/>
            <a:chOff x="0" y="0"/>
            <a:chExt cx="11099800" cy="2574292"/>
          </a:xfrm>
        </p:grpSpPr>
        <p:sp>
          <p:nvSpPr>
            <p:cNvPr name="TextBox 12" id="12"/>
            <p:cNvSpPr txBox="true"/>
            <p:nvPr/>
          </p:nvSpPr>
          <p:spPr>
            <a:xfrm rot="0">
              <a:off x="49111" y="1215813"/>
              <a:ext cx="11050689" cy="1358479"/>
            </a:xfrm>
            <a:prstGeom prst="rect">
              <a:avLst/>
            </a:prstGeom>
          </p:spPr>
          <p:txBody>
            <a:bodyPr anchor="t" rtlCol="false" tIns="0" lIns="0" bIns="0" rIns="0">
              <a:spAutoFit/>
            </a:bodyPr>
            <a:lstStyle/>
            <a:p>
              <a:pPr algn="l" marL="0" indent="0" lvl="0">
                <a:lnSpc>
                  <a:spcPts val="7840"/>
                </a:lnSpc>
              </a:pPr>
              <a:r>
                <a:rPr lang="en-US" sz="7000">
                  <a:solidFill>
                    <a:srgbClr val="2564D9"/>
                  </a:solidFill>
                  <a:latin typeface="Radley"/>
                  <a:ea typeface="Radley"/>
                  <a:cs typeface="Radley"/>
                  <a:sym typeface="Radley"/>
                </a:rPr>
                <a:t>Thank you!</a:t>
              </a:r>
            </a:p>
          </p:txBody>
        </p:sp>
        <p:sp>
          <p:nvSpPr>
            <p:cNvPr name="TextBox 13" id="13"/>
            <p:cNvSpPr txBox="true"/>
            <p:nvPr/>
          </p:nvSpPr>
          <p:spPr>
            <a:xfrm rot="0">
              <a:off x="0" y="57150"/>
              <a:ext cx="11050689" cy="645583"/>
            </a:xfrm>
            <a:prstGeom prst="rect">
              <a:avLst/>
            </a:prstGeom>
          </p:spPr>
          <p:txBody>
            <a:bodyPr anchor="t" rtlCol="false" tIns="0" lIns="0" bIns="0" rIns="0">
              <a:spAutoFit/>
            </a:bodyPr>
            <a:lstStyle/>
            <a:p>
              <a:pPr algn="l" marL="0" indent="0" lvl="0">
                <a:lnSpc>
                  <a:spcPts val="3500"/>
                </a:lnSpc>
              </a:pPr>
              <a:r>
                <a:rPr lang="en-US" sz="3500" i="true" u="none">
                  <a:solidFill>
                    <a:srgbClr val="0B3D91"/>
                  </a:solidFill>
                  <a:latin typeface="Radley Italics"/>
                  <a:ea typeface="Radley Italics"/>
                  <a:cs typeface="Radley Italics"/>
                  <a:sym typeface="Radley Italics"/>
                </a:rPr>
                <a:t>Salary Prediction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Salary Prediction Project</dc:description>
  <dc:identifier>DAG4rLwB0x4</dc:identifier>
  <dcterms:modified xsi:type="dcterms:W3CDTF">2011-08-01T06:04:30Z</dcterms:modified>
  <cp:revision>1</cp:revision>
  <dc:title>Presentation - Salary Prediction Project</dc:title>
</cp:coreProperties>
</file>